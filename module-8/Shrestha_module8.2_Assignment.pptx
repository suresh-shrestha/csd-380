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D4BD5-F4F7-4980-9E72-7D86F229183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96C62-F1DC-41D0-8054-AFF0C800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3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96C62-F1DC-41D0-8054-AFF0C800C2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1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2302-7B73-51D0-36A2-3FE4D60A9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75ABD-5951-9E1F-4BEC-992450817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A9B34-6F06-A8FA-C497-7D721D82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06EC7-1A9E-AAFC-C810-BB995137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E3ECC-454F-80C9-D4A1-53AA8245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2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A873-08AB-6F78-5556-6F651371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293EB-3504-8F0C-1444-A9283F024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C4D0D-88B1-0DF0-D523-330F47E2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205D-23CE-6903-2323-6623613D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D6051-9B89-9122-E39D-67052FB0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5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70B8-D4F1-BA4F-B2DF-25D2D51F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1B6A0-A7AC-F1BB-46FC-8972B76AA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9F32A-A54F-907E-AFAF-D3E1B7048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19797-83FA-ADD9-0B30-3C8888D53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8A3DB-1A7B-835F-00BA-7D80514B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075E-443C-48D4-E081-8A4439D1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1222-F09E-93A1-7945-0E5C2DF2A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B59C0-65F9-7D18-5685-D856BF4D2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01BB7-5D69-1BDD-9FFB-591B56B7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BF388-9DD9-6B96-1DE6-F32C6AE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7B787-CC4F-7996-8835-7429F6D72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4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E91E-F6A2-CB36-3FA1-DFE60B534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7D9E9-F074-7476-36E0-3CF29064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15BDE-AC66-D47A-6722-CFBD388A6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1F5BC-2801-00DD-6613-A427D4C81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546C9-B8B6-8C06-5F86-FFA5E6755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90D99-2D00-147F-DAFC-C205E765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6F9F6-2AD1-1B15-ED2C-1C320C5D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7B63-4E10-08FC-D17D-0D9151B7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6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4685-B6FE-8599-47C0-CDF2FEF3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B4238-9448-E50A-EF96-3EB2B71C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60086-6F5B-A078-C572-8E4AA9A6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44837-FA7E-8661-C9CA-0B64EBF3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0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191F24-076D-7C5C-65FE-FDA48720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030BB-6700-6022-13AB-5CBF24B5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806BA-0654-C796-F781-A65D077F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7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D0D5-952D-D037-D48E-6BADE113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59109-1D53-2F49-D17C-24383166D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45A24-8D7F-BED1-2D2F-DF104E14C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28BB3-11F2-042D-9C3D-F4E2F020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0E407-ECC4-1925-76DB-F7C47BFBC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41B48-5711-2B32-4E06-18E1AC6F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8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A69C9-2FE2-FDA4-24DA-D6B0CD2D1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7A76F2-0837-D7D5-6D7C-2EA54B959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C411A-8F6C-8ED9-4E09-FA0375F86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46569-D959-97D1-6005-F814A8FA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C69E5-90A2-826E-6DFD-B23BC3AD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615BE-1761-0A8B-A899-C0C3CB78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1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4D1C-4FF7-F26F-AD0F-F81885445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9C8A6-907E-0C61-38D4-6E0D71F9B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439EF-7451-5575-1B31-BFE8A487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4337-33CD-87C4-AD4F-1F396155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01156-E1F7-157C-D794-BAA8F393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3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20974-9686-6207-9B8D-41AD6CDCD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24898-E67C-ED7C-FD95-707350D19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7B4E7-5614-2BDC-2DB3-65852E7B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79DCD-F9A9-DC62-5D23-FBF06729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2216F-9F7F-1A14-2263-3BDEAD0D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1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78107-4001-C992-9632-BE7BC8CD3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51351-EA7C-2597-B3BC-5AF130A88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4491D-2B7D-E055-6875-E006ABFFC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5D5CD-8DA5-440D-8BBA-DF84E883B70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4504C-6D51-3D62-AB89-E1D571EBE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74B1E-FCAD-F47E-C2D6-1C4FCEA10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B0966-F23A-4ECF-B74D-2F827F643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6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snet.ahrq.gov/perspective/accountability-patient-safety?utm_source=chatgpt.com" TargetMode="External"/><Relationship Id="rId7" Type="http://schemas.openxmlformats.org/officeDocument/2006/relationships/hyperlink" Target="https://www.england.nhs.uk/commissioning/wp-content/uploads/2023/07/improving-patient-safety-culture-a-practical-guide-v2.pdf" TargetMode="External"/><Relationship Id="rId2" Type="http://schemas.openxmlformats.org/officeDocument/2006/relationships/hyperlink" Target="https://psnet.ahrq.gov/primer/culture-safety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hi.org/library/blog/6-ways-lead-culture-safety?utm_source=chatgpt.com" TargetMode="External"/><Relationship Id="rId5" Type="http://schemas.openxmlformats.org/officeDocument/2006/relationships/hyperlink" Target="https://www.ihi.org/library/blog/addressing-fears-build-safer-systems?utm_source=chatgpt.com" TargetMode="External"/><Relationship Id="rId4" Type="http://schemas.openxmlformats.org/officeDocument/2006/relationships/hyperlink" Target="https://psnet.ahrq.gov/perspective/making-just-culture-reality-one-organizations-approach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F4236-B707-38C0-E4CE-098909C2C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228600"/>
            <a:ext cx="10053763" cy="3381375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Establishing a Just,</a:t>
            </a:r>
            <a:br>
              <a:rPr lang="en-US" sz="4800" dirty="0">
                <a:solidFill>
                  <a:schemeClr val="tx2">
                    <a:lumMod val="25000"/>
                    <a:lumOff val="75000"/>
                  </a:schemeClr>
                </a:solidFill>
              </a:rPr>
            </a:br>
            <a:r>
              <a:rPr lang="en-US" sz="48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Learning Culture</a:t>
            </a:r>
            <a:br>
              <a:rPr lang="en-US" sz="4800" dirty="0">
                <a:solidFill>
                  <a:srgbClr val="FFFFFF"/>
                </a:solidFill>
              </a:rPr>
            </a:b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chemeClr val="accent4"/>
                </a:solidFill>
              </a:rPr>
              <a:t>Barriers and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64B76-F812-3076-CF9F-CD7D63134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1800" dirty="0"/>
              <a:t>Suresh Shrestha</a:t>
            </a:r>
          </a:p>
          <a:p>
            <a:pPr algn="l"/>
            <a:r>
              <a:rPr lang="en-US" sz="1800" dirty="0"/>
              <a:t>Module  8.2</a:t>
            </a:r>
          </a:p>
          <a:p>
            <a:pPr algn="l"/>
            <a:r>
              <a:rPr lang="en-US" sz="1800" dirty="0"/>
              <a:t>September 24, 2026</a:t>
            </a:r>
          </a:p>
          <a:p>
            <a:pPr algn="l"/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Research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4684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E7172A-8A47-0F3C-8A17-B7E74FB47898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What is a Just Culture?</a:t>
            </a:r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B19A2-8288-7427-FE1C-AF953DBDF584}"/>
              </a:ext>
            </a:extLst>
          </p:cNvPr>
          <p:cNvSpPr txBox="1"/>
          <p:nvPr/>
        </p:nvSpPr>
        <p:spPr>
          <a:xfrm>
            <a:off x="238125" y="2095499"/>
            <a:ext cx="4552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just culture allows employees to report mistakes and safety concerns without automatically being blamed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F0AA0-CFFE-4680-F8E2-49619CAF0FEA}"/>
              </a:ext>
            </a:extLst>
          </p:cNvPr>
          <p:cNvSpPr txBox="1"/>
          <p:nvPr/>
        </p:nvSpPr>
        <p:spPr>
          <a:xfrm>
            <a:off x="304801" y="3819525"/>
            <a:ext cx="4552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organization investigates why the problem occurred before choosing a fair response based on the employee’s actions and the circumstances surrounding the event.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2A7AB-B2A0-0774-A7A6-9DAFA9BB1342}"/>
              </a:ext>
            </a:extLst>
          </p:cNvPr>
          <p:cNvSpPr txBox="1"/>
          <p:nvPr/>
        </p:nvSpPr>
        <p:spPr>
          <a:xfrm>
            <a:off x="5953125" y="2228850"/>
            <a:ext cx="480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Learn from honest mistakes</a:t>
            </a:r>
          </a:p>
          <a:p>
            <a:r>
              <a:rPr lang="en-US" dirty="0"/>
              <a:t>Support the employee and improve the system.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Coach risky choices</a:t>
            </a:r>
          </a:p>
          <a:p>
            <a:r>
              <a:rPr lang="en-US" dirty="0"/>
              <a:t>Explain the danger and reduce the reasons for shortcuts.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Address reckless behavior</a:t>
            </a:r>
          </a:p>
          <a:p>
            <a:r>
              <a:rPr lang="en-US" dirty="0"/>
              <a:t> Use fair discipline when someone knowingly ignores a serious risk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B18070-6F4F-BD2E-6F3C-71BF7D5C0794}"/>
              </a:ext>
            </a:extLst>
          </p:cNvPr>
          <p:cNvSpPr/>
          <p:nvPr/>
        </p:nvSpPr>
        <p:spPr>
          <a:xfrm>
            <a:off x="5402580" y="1638300"/>
            <a:ext cx="45719" cy="4283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FA29E0-0344-DE55-E65F-FC0B17BFE22F}"/>
              </a:ext>
            </a:extLst>
          </p:cNvPr>
          <p:cNvSpPr txBox="1"/>
          <p:nvPr/>
        </p:nvSpPr>
        <p:spPr>
          <a:xfrm>
            <a:off x="304801" y="6162675"/>
            <a:ext cx="398144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Source: AHRQ </a:t>
            </a:r>
            <a:r>
              <a:rPr lang="en-US" sz="1100" b="1" dirty="0" err="1"/>
              <a:t>PSNet</a:t>
            </a:r>
            <a:r>
              <a:rPr lang="en-US" sz="1100" b="1" dirty="0"/>
              <a:t>, Culture of Safety</a:t>
            </a:r>
            <a:r>
              <a:rPr lang="en-US" sz="11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35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DF206E-1438-040D-C9C4-5D59AD9289AD}"/>
              </a:ext>
            </a:extLst>
          </p:cNvPr>
          <p:cNvSpPr/>
          <p:nvPr/>
        </p:nvSpPr>
        <p:spPr>
          <a:xfrm>
            <a:off x="0" y="0"/>
            <a:ext cx="12192000" cy="12858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Finding the Right Balance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71EF1-E122-0317-6E4D-CCEE59ED9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" y="1609470"/>
            <a:ext cx="10094976" cy="4334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73F09-62D7-4650-8A03-7E9E77A4FBB5}"/>
              </a:ext>
            </a:extLst>
          </p:cNvPr>
          <p:cNvSpPr txBox="1"/>
          <p:nvPr/>
        </p:nvSpPr>
        <p:spPr>
          <a:xfrm>
            <a:off x="758952" y="6336792"/>
            <a:ext cx="11433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Too much blame reduces reporting, while too little accountability can allow unsafe behavior to continue.</a:t>
            </a:r>
          </a:p>
        </p:txBody>
      </p:sp>
    </p:spTree>
    <p:extLst>
      <p:ext uri="{BB962C8B-B14F-4D97-AF65-F5344CB8AC3E}">
        <p14:creationId xmlns:p14="http://schemas.microsoft.com/office/powerpoint/2010/main" val="116691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0E8BF8-619C-7962-E24F-F78EC6706B73}"/>
              </a:ext>
            </a:extLst>
          </p:cNvPr>
          <p:cNvSpPr/>
          <p:nvPr/>
        </p:nvSpPr>
        <p:spPr>
          <a:xfrm>
            <a:off x="0" y="0"/>
            <a:ext cx="12192000" cy="12858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</a:rPr>
              <a:t>Employees May Be Afraid to Speak Up</a:t>
            </a:r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124F8-1BE5-55BE-5EE4-2DAD2652A912}"/>
              </a:ext>
            </a:extLst>
          </p:cNvPr>
          <p:cNvSpPr txBox="1"/>
          <p:nvPr/>
        </p:nvSpPr>
        <p:spPr>
          <a:xfrm>
            <a:off x="219075" y="1809750"/>
            <a:ext cx="475297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One major challenge is fear.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Employees may avoid reporting a mistake if they believe they will be punished, embarrassed, or treated unfairly.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workers stay silent, the organization loses information that could prevent the same problem from happening again.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3D755-FB58-75B0-60F6-7A0C05DE1CDB}"/>
              </a:ext>
            </a:extLst>
          </p:cNvPr>
          <p:cNvSpPr txBox="1"/>
          <p:nvPr/>
        </p:nvSpPr>
        <p:spPr>
          <a:xfrm>
            <a:off x="6153150" y="2000250"/>
            <a:ext cx="54768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Fear of punishment</a:t>
            </a:r>
          </a:p>
          <a:p>
            <a:endParaRPr lang="en-US" dirty="0"/>
          </a:p>
          <a:p>
            <a:r>
              <a:rPr lang="en-US" dirty="0"/>
              <a:t>Workers may hide mistakes.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Lack of trust</a:t>
            </a:r>
          </a:p>
          <a:p>
            <a:endParaRPr lang="en-US" dirty="0"/>
          </a:p>
          <a:p>
            <a:r>
              <a:rPr lang="en-US" dirty="0"/>
              <a:t>Past blame makes a new policy difficult to believe.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Missed learning </a:t>
            </a:r>
          </a:p>
          <a:p>
            <a:endParaRPr lang="en-US" dirty="0"/>
          </a:p>
          <a:p>
            <a:r>
              <a:rPr lang="en-US" dirty="0"/>
              <a:t>Hidden problems cannot be studied or corrected.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3915F0-D027-8BB1-2237-0D4B64C4BCB1}"/>
              </a:ext>
            </a:extLst>
          </p:cNvPr>
          <p:cNvSpPr/>
          <p:nvPr/>
        </p:nvSpPr>
        <p:spPr>
          <a:xfrm>
            <a:off x="5349240" y="2000250"/>
            <a:ext cx="54864" cy="4171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99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2A4177-6D06-A9F4-AB9D-00322907A758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khjkjhk</a:t>
            </a:r>
            <a:r>
              <a:rPr lang="en-US" sz="2800" b="1" dirty="0" err="1">
                <a:solidFill>
                  <a:schemeClr val="tx1"/>
                </a:solidFill>
              </a:rPr>
              <a:t>Deciding</a:t>
            </a:r>
            <a:r>
              <a:rPr lang="en-US" sz="2800" b="1" dirty="0">
                <a:solidFill>
                  <a:schemeClr val="tx1"/>
                </a:solidFill>
              </a:rPr>
              <a:t> What Is Fair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C3416-3221-C242-B0A5-C34093F1867A}"/>
              </a:ext>
            </a:extLst>
          </p:cNvPr>
          <p:cNvSpPr txBox="1"/>
          <p:nvPr/>
        </p:nvSpPr>
        <p:spPr>
          <a:xfrm>
            <a:off x="371475" y="1533525"/>
            <a:ext cx="117443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	Managers must understand the behavior before deciding how to respond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EE8FB-C060-D746-571E-A5F9A5DC0C1F}"/>
              </a:ext>
            </a:extLst>
          </p:cNvPr>
          <p:cNvSpPr txBox="1"/>
          <p:nvPr/>
        </p:nvSpPr>
        <p:spPr>
          <a:xfrm>
            <a:off x="752475" y="2876550"/>
            <a:ext cx="2543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Honest mistake</a:t>
            </a:r>
          </a:p>
          <a:p>
            <a:endParaRPr lang="en-US" dirty="0"/>
          </a:p>
          <a:p>
            <a:r>
              <a:rPr lang="en-US" dirty="0"/>
              <a:t>Support the employee and improve the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97AA6F-7438-87CD-4B95-B72E4C55EAAB}"/>
              </a:ext>
            </a:extLst>
          </p:cNvPr>
          <p:cNvSpPr txBox="1"/>
          <p:nvPr/>
        </p:nvSpPr>
        <p:spPr>
          <a:xfrm>
            <a:off x="4162425" y="2762250"/>
            <a:ext cx="3314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Risky choice</a:t>
            </a:r>
          </a:p>
          <a:p>
            <a:endParaRPr lang="en-US" dirty="0"/>
          </a:p>
          <a:p>
            <a:r>
              <a:rPr lang="en-US" dirty="0"/>
              <a:t>Coach the employee and explain the danger.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444AF-F2C9-305E-E85D-1B0ABD1E3E3B}"/>
              </a:ext>
            </a:extLst>
          </p:cNvPr>
          <p:cNvSpPr txBox="1"/>
          <p:nvPr/>
        </p:nvSpPr>
        <p:spPr>
          <a:xfrm>
            <a:off x="8420100" y="2962275"/>
            <a:ext cx="28860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Reckless behavior</a:t>
            </a:r>
          </a:p>
          <a:p>
            <a:endParaRPr lang="en-US" dirty="0"/>
          </a:p>
          <a:p>
            <a:r>
              <a:rPr lang="en-US" dirty="0"/>
              <a:t>Use appropriate discipline when necessary.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9F8BE0-A96C-3284-746B-BF3A6A577BB0}"/>
              </a:ext>
            </a:extLst>
          </p:cNvPr>
          <p:cNvSpPr txBox="1"/>
          <p:nvPr/>
        </p:nvSpPr>
        <p:spPr>
          <a:xfrm>
            <a:off x="1419226" y="5657850"/>
            <a:ext cx="9620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Trust falls when similar events receive different responses.</a:t>
            </a:r>
          </a:p>
        </p:txBody>
      </p:sp>
    </p:spTree>
    <p:extLst>
      <p:ext uri="{BB962C8B-B14F-4D97-AF65-F5344CB8AC3E}">
        <p14:creationId xmlns:p14="http://schemas.microsoft.com/office/powerpoint/2010/main" val="362786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521AA-DE53-E16B-4D1A-3FCD8F548C46}"/>
              </a:ext>
            </a:extLst>
          </p:cNvPr>
          <p:cNvSpPr/>
          <p:nvPr/>
        </p:nvSpPr>
        <p:spPr>
          <a:xfrm>
            <a:off x="0" y="0"/>
            <a:ext cx="12192000" cy="15144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hh</a:t>
            </a:r>
            <a:r>
              <a:rPr lang="en-US" sz="2800" b="1" dirty="0" err="1">
                <a:solidFill>
                  <a:schemeClr val="tx2"/>
                </a:solidFill>
              </a:rPr>
              <a:t>Policies</a:t>
            </a:r>
            <a:r>
              <a:rPr lang="en-US" sz="2800" b="1" dirty="0">
                <a:solidFill>
                  <a:schemeClr val="tx2"/>
                </a:solidFill>
              </a:rPr>
              <a:t> Alone Cannot Change the Culture</a:t>
            </a:r>
            <a:endParaRPr lang="en-US" sz="28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15C77-D03F-7400-3465-2B46FF898DAC}"/>
              </a:ext>
            </a:extLst>
          </p:cNvPr>
          <p:cNvSpPr txBox="1"/>
          <p:nvPr/>
        </p:nvSpPr>
        <p:spPr>
          <a:xfrm>
            <a:off x="771525" y="1984891"/>
            <a:ext cx="3009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Leadership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9984C-F6C1-A280-D5B0-9D0006066138}"/>
              </a:ext>
            </a:extLst>
          </p:cNvPr>
          <p:cNvSpPr txBox="1"/>
          <p:nvPr/>
        </p:nvSpPr>
        <p:spPr>
          <a:xfrm>
            <a:off x="5791199" y="1958459"/>
            <a:ext cx="3552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Reporting Challenges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0D362F-F95F-78B5-6838-DF744FDE6902}"/>
              </a:ext>
            </a:extLst>
          </p:cNvPr>
          <p:cNvSpPr/>
          <p:nvPr/>
        </p:nvSpPr>
        <p:spPr>
          <a:xfrm flipV="1">
            <a:off x="771525" y="2466974"/>
            <a:ext cx="30099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E1C23-9357-9EB6-8CBB-985AF46EFEB7}"/>
              </a:ext>
            </a:extLst>
          </p:cNvPr>
          <p:cNvSpPr/>
          <p:nvPr/>
        </p:nvSpPr>
        <p:spPr>
          <a:xfrm>
            <a:off x="5791199" y="2442150"/>
            <a:ext cx="622935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A016C-CF29-45EE-BDF7-A1A306260AF9}"/>
              </a:ext>
            </a:extLst>
          </p:cNvPr>
          <p:cNvSpPr txBox="1"/>
          <p:nvPr/>
        </p:nvSpPr>
        <p:spPr>
          <a:xfrm>
            <a:off x="619125" y="3114675"/>
            <a:ext cx="4276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•Leaders send mixed messages</a:t>
            </a:r>
          </a:p>
          <a:p>
            <a:endParaRPr lang="en-US" dirty="0"/>
          </a:p>
          <a:p>
            <a:r>
              <a:rPr lang="en-US" dirty="0"/>
              <a:t>• Managers make inconsistent decisions</a:t>
            </a:r>
          </a:p>
          <a:p>
            <a:endParaRPr lang="en-US" dirty="0"/>
          </a:p>
          <a:p>
            <a:r>
              <a:rPr lang="en-US" dirty="0"/>
              <a:t>• Employees receive little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486A6-8AEE-8EB5-E959-C0FA0308EC29}"/>
              </a:ext>
            </a:extLst>
          </p:cNvPr>
          <p:cNvSpPr txBox="1"/>
          <p:nvPr/>
        </p:nvSpPr>
        <p:spPr>
          <a:xfrm>
            <a:off x="6581775" y="3181350"/>
            <a:ext cx="4400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Forms are difficult to complete</a:t>
            </a:r>
          </a:p>
          <a:p>
            <a:endParaRPr lang="en-US" dirty="0"/>
          </a:p>
          <a:p>
            <a:r>
              <a:rPr lang="en-US" dirty="0"/>
              <a:t>• Employees receive no feedback</a:t>
            </a:r>
          </a:p>
          <a:p>
            <a:endParaRPr lang="en-US" dirty="0"/>
          </a:p>
          <a:p>
            <a:r>
              <a:rPr lang="en-US" dirty="0"/>
              <a:t>• Reported problems remain unfixed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80BB74-80A7-BC14-B8C4-308CBF83F21F}"/>
              </a:ext>
            </a:extLst>
          </p:cNvPr>
          <p:cNvSpPr txBox="1"/>
          <p:nvPr/>
        </p:nvSpPr>
        <p:spPr>
          <a:xfrm>
            <a:off x="1133475" y="5819775"/>
            <a:ext cx="8324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Employees judge the culture by what leaders do after a mistake.</a:t>
            </a:r>
          </a:p>
        </p:txBody>
      </p:sp>
    </p:spTree>
    <p:extLst>
      <p:ext uri="{BB962C8B-B14F-4D97-AF65-F5344CB8AC3E}">
        <p14:creationId xmlns:p14="http://schemas.microsoft.com/office/powerpoint/2010/main" val="346894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8B5775-EE1E-5997-DA8A-E0C2962E3754}"/>
              </a:ext>
            </a:extLst>
          </p:cNvPr>
          <p:cNvSpPr/>
          <p:nvPr/>
        </p:nvSpPr>
        <p:spPr>
          <a:xfrm>
            <a:off x="0" y="1"/>
            <a:ext cx="12192000" cy="12763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Building a Stronger Just Culture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0EDAE-A2EE-EDB2-8C4F-2F66D07BA593}"/>
              </a:ext>
            </a:extLst>
          </p:cNvPr>
          <p:cNvSpPr txBox="1"/>
          <p:nvPr/>
        </p:nvSpPr>
        <p:spPr>
          <a:xfrm>
            <a:off x="352425" y="1800225"/>
            <a:ext cx="6096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Organizations can reduce the barriers by:</a:t>
            </a:r>
          </a:p>
          <a:p>
            <a:endParaRPr lang="en-US" dirty="0"/>
          </a:p>
          <a:p>
            <a:r>
              <a:rPr lang="en-US" dirty="0"/>
              <a:t>Using one fair review process</a:t>
            </a:r>
          </a:p>
          <a:p>
            <a:endParaRPr lang="en-US" dirty="0"/>
          </a:p>
          <a:p>
            <a:r>
              <a:rPr lang="en-US" dirty="0"/>
              <a:t>Training managers with real examples</a:t>
            </a:r>
          </a:p>
          <a:p>
            <a:endParaRPr lang="en-US" dirty="0"/>
          </a:p>
          <a:p>
            <a:r>
              <a:rPr lang="en-US" dirty="0"/>
              <a:t>Protecting employees from unfair blame</a:t>
            </a:r>
          </a:p>
          <a:p>
            <a:endParaRPr lang="en-US" dirty="0"/>
          </a:p>
          <a:p>
            <a:r>
              <a:rPr lang="en-US" dirty="0"/>
              <a:t>Giving feedback after reports</a:t>
            </a:r>
          </a:p>
          <a:p>
            <a:endParaRPr lang="en-US" dirty="0"/>
          </a:p>
          <a:p>
            <a:r>
              <a:rPr lang="en-US" dirty="0"/>
              <a:t>Tracking whether improvements are completed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B89FA-69A1-F68E-6BB1-82A304AD263A}"/>
              </a:ext>
            </a:extLst>
          </p:cNvPr>
          <p:cNvSpPr txBox="1"/>
          <p:nvPr/>
        </p:nvSpPr>
        <p:spPr>
          <a:xfrm>
            <a:off x="7277099" y="1800225"/>
            <a:ext cx="39338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What I learned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Trust is one of the most important parts of a just culture. Employees are more likely to speak up when leaders listen respectfully and use reports to improve the workplace.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F5578-0145-70C3-D906-7BB8F029F613}"/>
              </a:ext>
            </a:extLst>
          </p:cNvPr>
          <p:cNvSpPr/>
          <p:nvPr/>
        </p:nvSpPr>
        <p:spPr>
          <a:xfrm>
            <a:off x="6488431" y="1381125"/>
            <a:ext cx="45719" cy="444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2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AA62-4830-4CC7-893D-3D916609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224C9A-B4CB-2809-4C32-9E6ECC29F3D8}"/>
              </a:ext>
            </a:extLst>
          </p:cNvPr>
          <p:cNvSpPr/>
          <p:nvPr/>
        </p:nvSpPr>
        <p:spPr>
          <a:xfrm>
            <a:off x="0" y="1"/>
            <a:ext cx="12192000" cy="12763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497CA-6CB0-9A91-7BC9-BCFB7587AC16}"/>
              </a:ext>
            </a:extLst>
          </p:cNvPr>
          <p:cNvSpPr txBox="1"/>
          <p:nvPr/>
        </p:nvSpPr>
        <p:spPr>
          <a:xfrm>
            <a:off x="896112" y="1947672"/>
            <a:ext cx="965606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dirty="0"/>
              <a:t>1. Agency for Healthcare Research and Quality. </a:t>
            </a:r>
            <a:r>
              <a:rPr lang="en-US" sz="1600" i="1" dirty="0"/>
              <a:t>Culture of Safety.</a:t>
            </a:r>
            <a:r>
              <a:rPr lang="en-US" sz="1600" dirty="0"/>
              <a:t> </a:t>
            </a:r>
            <a:r>
              <a:rPr lang="en-US" sz="1600" dirty="0" err="1"/>
              <a:t>PSNet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>
                <a:hlinkClick r:id="rId2"/>
              </a:rPr>
              <a:t>https://psnet.ahrq.gov/primer/culture-safety</a:t>
            </a:r>
            <a:r>
              <a:rPr lang="en-US" sz="1600" dirty="0"/>
              <a:t> </a:t>
            </a:r>
          </a:p>
          <a:p>
            <a:pPr lvl="0"/>
            <a:r>
              <a:rPr lang="en-US" sz="1600" dirty="0"/>
              <a:t>2. Agency for Healthcare Research and Quality. </a:t>
            </a:r>
            <a:r>
              <a:rPr lang="en-US" sz="1600" i="1" dirty="0"/>
              <a:t>Accountability in Patient Safety.</a:t>
            </a:r>
            <a:r>
              <a:rPr lang="en-US" sz="1600" dirty="0"/>
              <a:t> </a:t>
            </a:r>
            <a:r>
              <a:rPr lang="en-US" sz="1600" dirty="0" err="1"/>
              <a:t>PSNet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>
                <a:hlinkClick r:id="rId3"/>
              </a:rPr>
              <a:t>https://psnet.ahrq.gov/perspective/accountability-patient-safety</a:t>
            </a:r>
            <a:r>
              <a:rPr lang="en-US" sz="1600" dirty="0"/>
              <a:t> </a:t>
            </a:r>
          </a:p>
          <a:p>
            <a:pPr lvl="0"/>
            <a:r>
              <a:rPr lang="en-US" sz="1600" dirty="0"/>
              <a:t>3. Agency for Healthcare Research and Quality. </a:t>
            </a:r>
            <a:r>
              <a:rPr lang="en-US" sz="1600" i="1" dirty="0"/>
              <a:t>Making Just Culture a Reality: One Organization’s Approach.</a:t>
            </a:r>
            <a:r>
              <a:rPr lang="en-US" sz="1600" dirty="0"/>
              <a:t> </a:t>
            </a:r>
            <a:r>
              <a:rPr lang="en-US" sz="1600" dirty="0" err="1"/>
              <a:t>PSNet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>
                <a:hlinkClick r:id="rId4"/>
              </a:rPr>
              <a:t>https://psnet.ahrq.gov/perspective/making-just-culture-reality-one-organizations-approach</a:t>
            </a:r>
            <a:r>
              <a:rPr lang="en-US" sz="1600" dirty="0"/>
              <a:t> </a:t>
            </a:r>
          </a:p>
          <a:p>
            <a:pPr lvl="0"/>
            <a:r>
              <a:rPr lang="en-US" sz="1600" dirty="0"/>
              <a:t>4. Institute for Healthcare Improvement. </a:t>
            </a:r>
            <a:r>
              <a:rPr lang="en-US" sz="1600" i="1" dirty="0"/>
              <a:t>Addressing Fears to Build Safer Systems.</a:t>
            </a:r>
            <a:br>
              <a:rPr lang="en-US" sz="1600" dirty="0"/>
            </a:br>
            <a:r>
              <a:rPr lang="en-US" sz="1600" dirty="0">
                <a:hlinkClick r:id="rId5"/>
              </a:rPr>
              <a:t>https://www.ihi.org/library/blog/addressing-fears-build-safer-systems</a:t>
            </a:r>
            <a:r>
              <a:rPr lang="en-US" sz="1600" dirty="0"/>
              <a:t> </a:t>
            </a:r>
          </a:p>
          <a:p>
            <a:pPr lvl="0"/>
            <a:r>
              <a:rPr lang="en-US" sz="1600" dirty="0"/>
              <a:t>5. Institute for Healthcare Improvement. </a:t>
            </a:r>
            <a:r>
              <a:rPr lang="en-US" sz="1600" i="1" dirty="0"/>
              <a:t>6 Ways to Lead a Culture of Safety.</a:t>
            </a:r>
            <a:br>
              <a:rPr lang="en-US" sz="1600" dirty="0"/>
            </a:br>
            <a:r>
              <a:rPr lang="en-US" sz="1600" dirty="0">
                <a:hlinkClick r:id="rId6"/>
              </a:rPr>
              <a:t>https://www.ihi.org/library/blog/6-ways-lead-culture-safety</a:t>
            </a:r>
            <a:r>
              <a:rPr lang="en-US" sz="1600" dirty="0"/>
              <a:t> </a:t>
            </a:r>
          </a:p>
          <a:p>
            <a:pPr lvl="0"/>
            <a:r>
              <a:rPr lang="en-US" sz="1600" dirty="0"/>
              <a:t>6. NHS England. </a:t>
            </a:r>
            <a:r>
              <a:rPr lang="en-US" sz="1600" i="1" dirty="0"/>
              <a:t>Improving Patient Safety Culture: A Practical Guide.</a:t>
            </a:r>
            <a:br>
              <a:rPr lang="en-US" sz="1600" dirty="0"/>
            </a:br>
            <a:r>
              <a:rPr lang="en-US" dirty="0">
                <a:hlinkClick r:id="rId7"/>
              </a:rPr>
              <a:t>https://www.england.nhs.uk/commissioning/wp-content/uploads/2023/07/improving-patient-safety-culture-a-practical-guide-v2.pdf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9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585</Words>
  <Application>Microsoft Office PowerPoint</Application>
  <PresentationFormat>Widescreen</PresentationFormat>
  <Paragraphs>102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Establishing a Just, Learning Culture  Barriers and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shrestha</dc:creator>
  <cp:lastModifiedBy>Suresh shrestha</cp:lastModifiedBy>
  <cp:revision>11</cp:revision>
  <dcterms:created xsi:type="dcterms:W3CDTF">2026-09-22T18:05:29Z</dcterms:created>
  <dcterms:modified xsi:type="dcterms:W3CDTF">2026-09-25T17:52:57Z</dcterms:modified>
</cp:coreProperties>
</file>