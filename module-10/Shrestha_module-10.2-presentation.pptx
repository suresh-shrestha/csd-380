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43930-D87A-A468-EA78-20028F610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86332-A72F-FBAD-C9EA-26665F439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7A9EF-F0FC-053E-6685-698A66FF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369A4-38EC-CC8C-6543-4E1C977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FE640-793E-0C85-CC87-A4E4B1F7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8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F7CD-61CE-792F-AED9-5F791E74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DC33B-70D4-1203-5229-1B1A263DE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C5FB3-9800-91CF-7F4C-79425972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98309-1C7E-8143-B3F3-D3B7BFA9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5EA1E-76A3-BAEF-3172-5BA2DF00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1A72-A111-49D8-01F0-5E3B9E25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AFA73-553A-D542-EAB3-67D1A9888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0ADAE-A185-961F-1263-DCFA0AD4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4ECA1-8AD9-0833-FA32-D040FF0B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74AC6-2477-5FE8-0743-F3A54F26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332D-FC43-4ADA-2D90-C2E59A4B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9F4BD-574D-B321-47C3-304191E10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5A391-1EA2-BC37-7C16-A4E86CA80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5212A-847A-3FC8-E929-868D03BE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A267A-C6FD-F647-8509-60BA1D98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BEC51-AE5F-4979-DFEC-441214D6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0C8C0-4DBD-8BB4-E206-131474F6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9DA72-32E5-AC25-77F9-A1652330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B0677-BC81-0336-A645-7B2A970CD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3BAF1-C48A-939B-02A8-AD3D35B60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F9978-5E8B-06FC-C5D8-7B4EB54CD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C709B-4ABD-B113-2DF7-8CC39BF0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1A4E2-45DC-B28D-CE46-684801A3E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086BB-CE1C-CD43-DC9E-33987FEC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47BB-FD54-60B6-95BF-AD276316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0E348-91F6-6C7E-6EBF-4A1DA5E6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23736-AD86-0279-69F7-50805F80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6130B-876E-8B81-4852-BEB2D132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5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B8827-33CE-41A0-F7FF-8F533320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29A25-4DC8-2534-29E3-EC5D24D8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39C63-3E9E-DC55-B760-BB87DA8B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8AFB-0BB9-EC62-57ED-48B5244EA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42CF5-6337-674A-7738-90FB290EC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96BAF-B460-3DD4-7AB3-B7B35D8AE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BBC0B-BCE8-8308-B4CE-455EB74A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4CC76-E542-0DCE-47C8-76260630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1AC9C-ED93-BAA7-609E-A059AAFA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6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2FE0-A5B3-98AF-F874-82E78CF95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8C0046-C0E9-7D7F-FF3D-3BD2465E934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7EE83-C754-83BE-D0A7-0AE5BBA05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ACB9D-C2B5-65CF-F279-938119B0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90C11-AC02-EC71-EA55-FA1EE4BC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D9CDD-3E34-2D0F-778C-F2FCAC61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3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CD96-46DB-06D3-F36E-3EB70F3D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992AA-3629-1F4C-8D02-FEF0E56F5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CC524-D5FA-1D4D-B978-8D61B11D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9A8FE-A287-831F-A8E2-4A0EE0EA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39AE4-0375-2C1A-2090-A42DBC0B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A35A5-6F1C-DB23-739E-B79DEA418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395CC-8F0A-DD86-F616-FBB0E1BC9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747C3-984C-BD31-C178-FBB8AF836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E64DD-47D8-B333-0B3D-7F2FACA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5E6E5-C191-C89E-4252-D3EE8723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1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02E080-3E46-E772-DDAC-1A14FCBC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8E4F1-69A9-5E67-4A36-D248149EF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D02A9-19B5-8439-77CD-8297377B9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CEFE2-2D7F-419D-A5DA-4F29B81891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49A5F-04B1-7D5C-FBA4-6E02AB31B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F455C-E718-19A0-57CB-3E100EF17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8C22F-1F4A-4D2E-8171-54F9267A7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de-security/getting-started/quickstart-for-securing-your-repository" TargetMode="External"/><Relationship Id="rId2" Type="http://schemas.openxmlformats.org/officeDocument/2006/relationships/hyperlink" Target="https://csrc.nist.gov/projects/ssdf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heatsheetseries.owasp.org/cheatsheets/Secrets_Management_Cheat_Shee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AC499-0A04-8A98-7CB8-516CE7921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76" y="409575"/>
            <a:ext cx="10810874" cy="2457450"/>
          </a:xfrm>
        </p:spPr>
        <p:txBody>
          <a:bodyPr anchor="b">
            <a:norm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</a:rPr>
              <a:t>SECURITY CONTROL</a:t>
            </a:r>
            <a:br>
              <a:rPr lang="en-US" sz="4100" dirty="0">
                <a:solidFill>
                  <a:srgbClr val="FFFFFF"/>
                </a:solidFill>
              </a:rPr>
            </a:br>
            <a:br>
              <a:rPr lang="en-US" sz="4100" dirty="0">
                <a:solidFill>
                  <a:srgbClr val="FFFFFF"/>
                </a:solidFill>
              </a:rPr>
            </a:br>
            <a:r>
              <a:rPr lang="en-US" sz="4100" dirty="0">
                <a:solidFill>
                  <a:srgbClr val="FFFFFF"/>
                </a:solidFill>
              </a:rPr>
              <a:t>Shared Source Code</a:t>
            </a:r>
            <a:br>
              <a:rPr lang="en-US" sz="4100" dirty="0">
                <a:solidFill>
                  <a:srgbClr val="FFFFFF"/>
                </a:solidFill>
              </a:rPr>
            </a:br>
            <a:r>
              <a:rPr lang="en-US" sz="4100" dirty="0">
                <a:solidFill>
                  <a:srgbClr val="FFFFFF"/>
                </a:solidFill>
              </a:rPr>
              <a:t>Repositories</a:t>
            </a:r>
            <a:br>
              <a:rPr lang="en-US" sz="4100" dirty="0">
                <a:solidFill>
                  <a:srgbClr val="FFFFFF"/>
                </a:solidFill>
              </a:rPr>
            </a:b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8C29A-5B93-BFB1-4DB0-25746681D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Suresh Shrestha</a:t>
            </a:r>
          </a:p>
          <a:p>
            <a:pPr algn="l"/>
            <a:r>
              <a:rPr lang="en-US" dirty="0"/>
              <a:t>Module 10.2 Presentation</a:t>
            </a:r>
          </a:p>
          <a:p>
            <a:pPr algn="l"/>
            <a:r>
              <a:rPr lang="en-US" dirty="0"/>
              <a:t>October 1,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139E9-1C4D-F60D-6233-7C25F7752DC3}"/>
              </a:ext>
            </a:extLst>
          </p:cNvPr>
          <p:cNvSpPr txBox="1"/>
          <p:nvPr/>
        </p:nvSpPr>
        <p:spPr>
          <a:xfrm>
            <a:off x="1219200" y="3190875"/>
            <a:ext cx="748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Best practices for protecting collaborative code, credentials, and changes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3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DDF87B-F054-FF90-EA66-68257CE05DA1}"/>
              </a:ext>
            </a:extLst>
          </p:cNvPr>
          <p:cNvSpPr txBox="1"/>
          <p:nvPr/>
        </p:nvSpPr>
        <p:spPr>
          <a:xfrm>
            <a:off x="638175" y="619125"/>
            <a:ext cx="10298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Why Repository Security Matters</a:t>
            </a:r>
          </a:p>
          <a:p>
            <a:endParaRPr lang="en-US" dirty="0"/>
          </a:p>
          <a:p>
            <a:r>
              <a:rPr lang="en-US" sz="1600" dirty="0"/>
              <a:t>Shared repositories improve teamwork, but they also concentrate valuable code and access.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A shared source code repository is a central place where developers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 store, track, and collaborate on code.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95CAC-FA11-E871-3FE3-9AD1424FE3AA}"/>
              </a:ext>
            </a:extLst>
          </p:cNvPr>
          <p:cNvSpPr txBox="1"/>
          <p:nvPr/>
        </p:nvSpPr>
        <p:spPr>
          <a:xfrm>
            <a:off x="590549" y="3467189"/>
            <a:ext cx="279082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chemeClr val="accent1"/>
                </a:solidFill>
              </a:rPr>
              <a:t>Unauthorized access</a:t>
            </a:r>
          </a:p>
          <a:p>
            <a:endParaRPr lang="en-US" dirty="0"/>
          </a:p>
          <a:p>
            <a:r>
              <a:rPr lang="en-US" dirty="0"/>
              <a:t>Someone sees or changes code without permission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786D6-C72E-016E-CD57-F42B49DD1BE0}"/>
              </a:ext>
            </a:extLst>
          </p:cNvPr>
          <p:cNvSpPr txBox="1"/>
          <p:nvPr/>
        </p:nvSpPr>
        <p:spPr>
          <a:xfrm>
            <a:off x="4400550" y="3545831"/>
            <a:ext cx="33909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b="1" dirty="0">
                <a:solidFill>
                  <a:schemeClr val="accent1"/>
                </a:solidFill>
              </a:rPr>
              <a:t>Unsafe changes</a:t>
            </a:r>
          </a:p>
          <a:p>
            <a:endParaRPr lang="en-US" dirty="0"/>
          </a:p>
          <a:p>
            <a:r>
              <a:rPr lang="en-US" dirty="0"/>
              <a:t>Unreviewed code reaches an important branch.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D415B-F8C6-5B37-B9FD-2422B0B1C07D}"/>
              </a:ext>
            </a:extLst>
          </p:cNvPr>
          <p:cNvSpPr txBox="1"/>
          <p:nvPr/>
        </p:nvSpPr>
        <p:spPr>
          <a:xfrm>
            <a:off x="8077201" y="3545830"/>
            <a:ext cx="36576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b="1" dirty="0">
                <a:solidFill>
                  <a:schemeClr val="accent1"/>
                </a:solidFill>
              </a:rPr>
              <a:t>Exposed secrets</a:t>
            </a:r>
          </a:p>
          <a:p>
            <a:endParaRPr lang="en-US" dirty="0"/>
          </a:p>
          <a:p>
            <a:r>
              <a:rPr lang="en-US" dirty="0"/>
              <a:t>Keys, tokens, or passwords enter the source history.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C1BB45-BAFE-B7F7-F930-951E039FE604}"/>
              </a:ext>
            </a:extLst>
          </p:cNvPr>
          <p:cNvSpPr/>
          <p:nvPr/>
        </p:nvSpPr>
        <p:spPr>
          <a:xfrm>
            <a:off x="638175" y="3429000"/>
            <a:ext cx="294513" cy="365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1E366-8ED9-D729-FE86-45C58E3AAB10}"/>
              </a:ext>
            </a:extLst>
          </p:cNvPr>
          <p:cNvSpPr/>
          <p:nvPr/>
        </p:nvSpPr>
        <p:spPr>
          <a:xfrm>
            <a:off x="4498848" y="3545830"/>
            <a:ext cx="246888" cy="33122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83EC31-725D-AF2F-6A0D-26634EB3BE3D}"/>
              </a:ext>
            </a:extLst>
          </p:cNvPr>
          <p:cNvSpPr/>
          <p:nvPr/>
        </p:nvSpPr>
        <p:spPr>
          <a:xfrm>
            <a:off x="8232649" y="3473699"/>
            <a:ext cx="246888" cy="33122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400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0623B-840D-43C1-60AA-C0D73C03BEA2}"/>
              </a:ext>
            </a:extLst>
          </p:cNvPr>
          <p:cNvSpPr txBox="1"/>
          <p:nvPr/>
        </p:nvSpPr>
        <p:spPr>
          <a:xfrm>
            <a:off x="1024127" y="493776"/>
            <a:ext cx="48097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1. Control Repository Access</a:t>
            </a:r>
          </a:p>
          <a:p>
            <a:r>
              <a:rPr lang="en-US" dirty="0"/>
              <a:t> </a:t>
            </a:r>
          </a:p>
          <a:p>
            <a:r>
              <a:rPr lang="en-US" sz="1400" dirty="0"/>
              <a:t>Give each person only the access needed for their role.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5E5913-6962-CF74-B3F5-84AA16EE219A}"/>
              </a:ext>
            </a:extLst>
          </p:cNvPr>
          <p:cNvSpPr/>
          <p:nvPr/>
        </p:nvSpPr>
        <p:spPr>
          <a:xfrm>
            <a:off x="1024127" y="1901738"/>
            <a:ext cx="4457701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 Configure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5F450-4DC8-CB92-0753-BBCC1FE75200}"/>
              </a:ext>
            </a:extLst>
          </p:cNvPr>
          <p:cNvSpPr/>
          <p:nvPr/>
        </p:nvSpPr>
        <p:spPr>
          <a:xfrm>
            <a:off x="969264" y="3067812"/>
            <a:ext cx="4114800" cy="85039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White Contribute and merge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9F6CB9-AAB2-683D-F149-2603DF7D503E}"/>
              </a:ext>
            </a:extLst>
          </p:cNvPr>
          <p:cNvSpPr/>
          <p:nvPr/>
        </p:nvSpPr>
        <p:spPr>
          <a:xfrm>
            <a:off x="969264" y="4233886"/>
            <a:ext cx="3712464" cy="72237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view repository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045F0-1E41-CAEC-A632-D8C70A527F23}"/>
              </a:ext>
            </a:extLst>
          </p:cNvPr>
          <p:cNvSpPr txBox="1"/>
          <p:nvPr/>
        </p:nvSpPr>
        <p:spPr>
          <a:xfrm>
            <a:off x="969264" y="5577840"/>
            <a:ext cx="469087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Least privilege</a:t>
            </a:r>
          </a:p>
          <a:p>
            <a:endParaRPr lang="en-US" sz="1400" dirty="0"/>
          </a:p>
          <a:p>
            <a:r>
              <a:rPr lang="en-US" sz="1400" dirty="0"/>
              <a:t>Start small. Add permission only when the work requires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18027-8EDC-AF05-7611-DDA83352CED6}"/>
              </a:ext>
            </a:extLst>
          </p:cNvPr>
          <p:cNvSpPr txBox="1"/>
          <p:nvPr/>
        </p:nvSpPr>
        <p:spPr>
          <a:xfrm>
            <a:off x="6821424" y="1801368"/>
            <a:ext cx="334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•Use role-based permissions</a:t>
            </a:r>
          </a:p>
          <a:p>
            <a:r>
              <a:rPr lang="en-US" dirty="0"/>
              <a:t>•Review access regularly</a:t>
            </a:r>
          </a:p>
          <a:p>
            <a:r>
              <a:rPr lang="en-US" dirty="0"/>
              <a:t>•Remove access when people </a:t>
            </a:r>
          </a:p>
          <a:p>
            <a:r>
              <a:rPr lang="en-US" dirty="0"/>
              <a:t>•leave or change roles</a:t>
            </a:r>
          </a:p>
          <a:p>
            <a:r>
              <a:rPr lang="en-US" dirty="0"/>
              <a:t>•Avoid shared accounts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8CD846-A000-58E8-E498-982A1C50B407}"/>
              </a:ext>
            </a:extLst>
          </p:cNvPr>
          <p:cNvSpPr/>
          <p:nvPr/>
        </p:nvSpPr>
        <p:spPr>
          <a:xfrm>
            <a:off x="6419088" y="5300840"/>
            <a:ext cx="1036322" cy="321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91475-A006-7BDA-E6E3-998C56E5EA2C}"/>
              </a:ext>
            </a:extLst>
          </p:cNvPr>
          <p:cNvSpPr txBox="1"/>
          <p:nvPr/>
        </p:nvSpPr>
        <p:spPr>
          <a:xfrm>
            <a:off x="7631052" y="5300841"/>
            <a:ext cx="3013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</a:rPr>
              <a:t>Know who can see and modify the code</a:t>
            </a:r>
          </a:p>
        </p:txBody>
      </p:sp>
    </p:spTree>
    <p:extLst>
      <p:ext uri="{BB962C8B-B14F-4D97-AF65-F5344CB8AC3E}">
        <p14:creationId xmlns:p14="http://schemas.microsoft.com/office/powerpoint/2010/main" val="380208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EE91C7-EEE2-D17B-C5C4-314C8F31AA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FEC69-5F9E-F3F8-5DA5-44BF5CF672C8}"/>
              </a:ext>
            </a:extLst>
          </p:cNvPr>
          <p:cNvSpPr/>
          <p:nvPr/>
        </p:nvSpPr>
        <p:spPr>
          <a:xfrm>
            <a:off x="393192" y="292608"/>
            <a:ext cx="5550408" cy="11612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2. Protect Developer Accounts</a:t>
            </a:r>
          </a:p>
          <a:p>
            <a:endParaRPr lang="en-US" sz="1400" dirty="0"/>
          </a:p>
          <a:p>
            <a:r>
              <a:rPr lang="en-US" sz="1400" dirty="0"/>
              <a:t>A repository is only as secure as the accounts that can access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589C-97F5-B807-0DC9-2B4BD655F5AD}"/>
              </a:ext>
            </a:extLst>
          </p:cNvPr>
          <p:cNvSpPr/>
          <p:nvPr/>
        </p:nvSpPr>
        <p:spPr>
          <a:xfrm>
            <a:off x="630936" y="1965960"/>
            <a:ext cx="2596896" cy="146304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/>
                </a:solidFill>
              </a:rPr>
              <a:t>MFA</a:t>
            </a:r>
          </a:p>
          <a:p>
            <a:r>
              <a:rPr lang="en-US" dirty="0"/>
              <a:t>Require another factor besides a password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63365-61AF-244F-5553-507AD0559B38}"/>
              </a:ext>
            </a:extLst>
          </p:cNvPr>
          <p:cNvSpPr/>
          <p:nvPr/>
        </p:nvSpPr>
        <p:spPr>
          <a:xfrm>
            <a:off x="630936" y="4151376"/>
            <a:ext cx="2688336" cy="173736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/>
                </a:solidFill>
              </a:rPr>
              <a:t>Unique Password</a:t>
            </a:r>
          </a:p>
          <a:p>
            <a:endParaRPr lang="en-US" dirty="0"/>
          </a:p>
          <a:p>
            <a:r>
              <a:rPr lang="en-US" dirty="0"/>
              <a:t>Do not reuse credentials across services.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6F374-969A-E18D-BAFA-D48B21E3C9E9}"/>
              </a:ext>
            </a:extLst>
          </p:cNvPr>
          <p:cNvSpPr/>
          <p:nvPr/>
        </p:nvSpPr>
        <p:spPr>
          <a:xfrm>
            <a:off x="4901184" y="2478024"/>
            <a:ext cx="2350008" cy="146304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Developer</a:t>
            </a:r>
          </a:p>
          <a:p>
            <a:r>
              <a:rPr lang="en-US" dirty="0"/>
              <a:t>Account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E9DC4A-9ACD-6DEC-D83B-5DF48169C934}"/>
              </a:ext>
            </a:extLst>
          </p:cNvPr>
          <p:cNvSpPr/>
          <p:nvPr/>
        </p:nvSpPr>
        <p:spPr>
          <a:xfrm>
            <a:off x="8558784" y="1591056"/>
            <a:ext cx="3002280" cy="1591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Tokens &amp; SSH keys</a:t>
            </a:r>
          </a:p>
          <a:p>
            <a:endParaRPr lang="en-US" dirty="0"/>
          </a:p>
          <a:p>
            <a:r>
              <a:rPr lang="en-US" dirty="0"/>
              <a:t>Protect credentials used by tools and devices.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D0B1F5-6BA0-F387-7AD6-E5517DD55E80}"/>
              </a:ext>
            </a:extLst>
          </p:cNvPr>
          <p:cNvSpPr/>
          <p:nvPr/>
        </p:nvSpPr>
        <p:spPr>
          <a:xfrm>
            <a:off x="8074152" y="4443984"/>
            <a:ext cx="3218688" cy="1380744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Access reviews</a:t>
            </a:r>
          </a:p>
          <a:p>
            <a:endParaRPr lang="en-US" dirty="0"/>
          </a:p>
          <a:p>
            <a:r>
              <a:rPr lang="en-US" dirty="0"/>
              <a:t>Remove old or unnecessary account access.</a:t>
            </a:r>
          </a:p>
        </p:txBody>
      </p:sp>
    </p:spTree>
    <p:extLst>
      <p:ext uri="{BB962C8B-B14F-4D97-AF65-F5344CB8AC3E}">
        <p14:creationId xmlns:p14="http://schemas.microsoft.com/office/powerpoint/2010/main" val="2237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D8F3A9-4C56-9364-A019-59A6948F20A4}"/>
              </a:ext>
            </a:extLst>
          </p:cNvPr>
          <p:cNvSpPr txBox="1"/>
          <p:nvPr/>
        </p:nvSpPr>
        <p:spPr>
          <a:xfrm>
            <a:off x="896112" y="512064"/>
            <a:ext cx="4837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3. Protect Important Branches</a:t>
            </a:r>
          </a:p>
          <a:p>
            <a:endParaRPr lang="en-US" sz="1200" dirty="0"/>
          </a:p>
          <a:p>
            <a:r>
              <a:rPr lang="en-US" sz="1200" dirty="0"/>
              <a:t>Use pull requests and automated checks before code reaches main.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79E802-94C9-DE87-EFF9-AB4671AD32A5}"/>
              </a:ext>
            </a:extLst>
          </p:cNvPr>
          <p:cNvSpPr/>
          <p:nvPr/>
        </p:nvSpPr>
        <p:spPr>
          <a:xfrm>
            <a:off x="768096" y="1947672"/>
            <a:ext cx="1737360" cy="100584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Feature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branch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D5BF9-02A5-992D-4DBB-13A47D7EF1DB}"/>
              </a:ext>
            </a:extLst>
          </p:cNvPr>
          <p:cNvSpPr/>
          <p:nvPr/>
        </p:nvSpPr>
        <p:spPr>
          <a:xfrm>
            <a:off x="3222117" y="1947672"/>
            <a:ext cx="1490472" cy="10058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Pull</a:t>
            </a:r>
          </a:p>
          <a:p>
            <a:pPr algn="ctr"/>
            <a:r>
              <a:rPr lang="en-US" dirty="0"/>
              <a:t>request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AB14D-8212-9EDE-F8D6-E430A1BF6FC1}"/>
              </a:ext>
            </a:extLst>
          </p:cNvPr>
          <p:cNvSpPr/>
          <p:nvPr/>
        </p:nvSpPr>
        <p:spPr>
          <a:xfrm>
            <a:off x="5319522" y="1947672"/>
            <a:ext cx="1490472" cy="100584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Peer</a:t>
            </a:r>
          </a:p>
          <a:p>
            <a:pPr algn="ctr"/>
            <a:r>
              <a:rPr lang="en-US" dirty="0"/>
              <a:t>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C9C11E-6C28-861F-98B0-3F72B8A4C923}"/>
              </a:ext>
            </a:extLst>
          </p:cNvPr>
          <p:cNvSpPr/>
          <p:nvPr/>
        </p:nvSpPr>
        <p:spPr>
          <a:xfrm>
            <a:off x="7526655" y="1947672"/>
            <a:ext cx="1490472" cy="100584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</a:t>
            </a:r>
          </a:p>
          <a:p>
            <a:pPr algn="ctr"/>
            <a:r>
              <a:rPr lang="en-US" dirty="0"/>
              <a:t>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B8A655-D9D4-7F7F-5F63-988C29DBE5FF}"/>
              </a:ext>
            </a:extLst>
          </p:cNvPr>
          <p:cNvSpPr/>
          <p:nvPr/>
        </p:nvSpPr>
        <p:spPr>
          <a:xfrm>
            <a:off x="9733788" y="1947672"/>
            <a:ext cx="1490472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EAEA0-B5E0-2FB4-46CE-C9E1A3AD90ED}"/>
              </a:ext>
            </a:extLst>
          </p:cNvPr>
          <p:cNvSpPr txBox="1"/>
          <p:nvPr/>
        </p:nvSpPr>
        <p:spPr>
          <a:xfrm>
            <a:off x="1316736" y="3995928"/>
            <a:ext cx="514807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Useful branch rules</a:t>
            </a:r>
          </a:p>
          <a:p>
            <a:endParaRPr lang="en-US" sz="1600" dirty="0"/>
          </a:p>
          <a:p>
            <a:r>
              <a:rPr lang="en-US" sz="1600" dirty="0"/>
              <a:t>• Require pull request reviews</a:t>
            </a:r>
          </a:p>
          <a:p>
            <a:r>
              <a:rPr lang="en-US" sz="1600" dirty="0"/>
              <a:t>• Require status checks before merging</a:t>
            </a:r>
          </a:p>
          <a:p>
            <a:r>
              <a:rPr lang="en-US" sz="1600" dirty="0"/>
              <a:t>• Restrict direct pushes</a:t>
            </a:r>
          </a:p>
          <a:p>
            <a:r>
              <a:rPr lang="en-US" sz="1600" dirty="0"/>
              <a:t>• Prevent rule bypass where appropriate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7D90348-9004-E467-A478-633018328D22}"/>
              </a:ext>
            </a:extLst>
          </p:cNvPr>
          <p:cNvSpPr/>
          <p:nvPr/>
        </p:nvSpPr>
        <p:spPr>
          <a:xfrm>
            <a:off x="2670048" y="2395728"/>
            <a:ext cx="374904" cy="640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94A5460-9C98-485E-3F35-F3A15F3E1E85}"/>
              </a:ext>
            </a:extLst>
          </p:cNvPr>
          <p:cNvSpPr/>
          <p:nvPr/>
        </p:nvSpPr>
        <p:spPr>
          <a:xfrm>
            <a:off x="4837176" y="2395728"/>
            <a:ext cx="338328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45323E6-F5A2-3CCB-9615-E9739E6B12DC}"/>
              </a:ext>
            </a:extLst>
          </p:cNvPr>
          <p:cNvSpPr/>
          <p:nvPr/>
        </p:nvSpPr>
        <p:spPr>
          <a:xfrm>
            <a:off x="6958584" y="2395728"/>
            <a:ext cx="347472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8E6026-C619-0280-D0FC-5ECA92372637}"/>
              </a:ext>
            </a:extLst>
          </p:cNvPr>
          <p:cNvSpPr/>
          <p:nvPr/>
        </p:nvSpPr>
        <p:spPr>
          <a:xfrm>
            <a:off x="9098280" y="2395728"/>
            <a:ext cx="347472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4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881C7-96D2-254B-91FD-61FDC75AC8FF}"/>
              </a:ext>
            </a:extLst>
          </p:cNvPr>
          <p:cNvSpPr txBox="1"/>
          <p:nvPr/>
        </p:nvSpPr>
        <p:spPr>
          <a:xfrm>
            <a:off x="667512" y="585216"/>
            <a:ext cx="765352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4. Keep Secrets Out of Source Code</a:t>
            </a:r>
          </a:p>
          <a:p>
            <a:endParaRPr lang="en-US" sz="1400" dirty="0"/>
          </a:p>
          <a:p>
            <a:r>
              <a:rPr lang="en-US" sz="1400" dirty="0"/>
              <a:t>Credentials in repository history can expose systems beyond the repository itself.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C5DC5-7E2E-A8CD-E4AA-AB53E7070FDC}"/>
              </a:ext>
            </a:extLst>
          </p:cNvPr>
          <p:cNvSpPr/>
          <p:nvPr/>
        </p:nvSpPr>
        <p:spPr>
          <a:xfrm>
            <a:off x="1027177" y="2112264"/>
            <a:ext cx="4608576" cy="3291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Password = “</a:t>
            </a:r>
            <a:r>
              <a:rPr lang="en-US" dirty="0" err="1">
                <a:solidFill>
                  <a:schemeClr val="accent2"/>
                </a:solidFill>
              </a:rPr>
              <a:t>myPassword</a:t>
            </a:r>
            <a:r>
              <a:rPr lang="en-US" dirty="0">
                <a:solidFill>
                  <a:schemeClr val="accent2"/>
                </a:solidFill>
              </a:rPr>
              <a:t>”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Api_key</a:t>
            </a:r>
            <a:r>
              <a:rPr lang="en-US" dirty="0">
                <a:solidFill>
                  <a:schemeClr val="accent2"/>
                </a:solidFill>
              </a:rPr>
              <a:t> = “ABCD-1234”</a:t>
            </a:r>
          </a:p>
          <a:p>
            <a:r>
              <a:rPr lang="en-US" dirty="0">
                <a:solidFill>
                  <a:schemeClr val="accent2"/>
                </a:solidFill>
              </a:rPr>
              <a:t>Token = “secret-token”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Passwords, API keys, access tokens, private keys, and certificates should not be hard-coded.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20C80-86B6-2678-4348-2885C6B523B7}"/>
              </a:ext>
            </a:extLst>
          </p:cNvPr>
          <p:cNvSpPr/>
          <p:nvPr/>
        </p:nvSpPr>
        <p:spPr>
          <a:xfrm>
            <a:off x="6556248" y="2093976"/>
            <a:ext cx="4608576" cy="31638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2"/>
                </a:solidFill>
              </a:rPr>
              <a:t>• Store secrets in a secure secret manager</a:t>
            </a:r>
          </a:p>
          <a:p>
            <a:r>
              <a:rPr lang="en-US" sz="1400" dirty="0">
                <a:solidFill>
                  <a:schemeClr val="tx2"/>
                </a:solidFill>
              </a:rPr>
              <a:t>• Enable secret scanning</a:t>
            </a:r>
          </a:p>
          <a:p>
            <a:r>
              <a:rPr lang="en-US" sz="1400" dirty="0">
                <a:solidFill>
                  <a:schemeClr val="tx2"/>
                </a:solidFill>
              </a:rPr>
              <a:t>• Use push protection when available</a:t>
            </a:r>
          </a:p>
          <a:p>
            <a:r>
              <a:rPr lang="en-US" sz="1400" dirty="0">
                <a:solidFill>
                  <a:schemeClr val="tx2"/>
                </a:solidFill>
              </a:rPr>
              <a:t>• Rotate credentials if a secret is exposed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E1456-B431-EC0C-4106-CC07A4174F85}"/>
              </a:ext>
            </a:extLst>
          </p:cNvPr>
          <p:cNvSpPr/>
          <p:nvPr/>
        </p:nvSpPr>
        <p:spPr>
          <a:xfrm>
            <a:off x="6903720" y="2286000"/>
            <a:ext cx="1417320" cy="338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SAFER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929B0-66D2-B910-A699-7E6BFCB2E78C}"/>
              </a:ext>
            </a:extLst>
          </p:cNvPr>
          <p:cNvSpPr/>
          <p:nvPr/>
        </p:nvSpPr>
        <p:spPr>
          <a:xfrm>
            <a:off x="1115568" y="2286000"/>
            <a:ext cx="1618488" cy="36118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DO NOT COMMIT</a:t>
            </a:r>
          </a:p>
        </p:txBody>
      </p:sp>
    </p:spTree>
    <p:extLst>
      <p:ext uri="{BB962C8B-B14F-4D97-AF65-F5344CB8AC3E}">
        <p14:creationId xmlns:p14="http://schemas.microsoft.com/office/powerpoint/2010/main" val="221438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7C1B6-6EEF-1CD1-CACA-E36BAC7EF86E}"/>
              </a:ext>
            </a:extLst>
          </p:cNvPr>
          <p:cNvSpPr txBox="1"/>
          <p:nvPr/>
        </p:nvSpPr>
        <p:spPr>
          <a:xfrm>
            <a:off x="713232" y="548640"/>
            <a:ext cx="6409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5. Scan Code and Dependencies</a:t>
            </a:r>
          </a:p>
          <a:p>
            <a:endParaRPr lang="en-US" sz="1400" dirty="0"/>
          </a:p>
          <a:p>
            <a:r>
              <a:rPr lang="en-US" sz="1400" dirty="0"/>
              <a:t>Automated checks can find problems that are easy to miss during manual review</a:t>
            </a:r>
            <a:r>
              <a:rPr lang="en-US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EF12CB-BE69-11E4-06A6-66A304973D0B}"/>
              </a:ext>
            </a:extLst>
          </p:cNvPr>
          <p:cNvSpPr/>
          <p:nvPr/>
        </p:nvSpPr>
        <p:spPr>
          <a:xfrm>
            <a:off x="786384" y="2898648"/>
            <a:ext cx="3191256" cy="18745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CODE SCANNING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Find vulnerable coding patterns before release.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3335B-AD2E-7156-10F9-05C1981F1E77}"/>
              </a:ext>
            </a:extLst>
          </p:cNvPr>
          <p:cNvSpPr/>
          <p:nvPr/>
        </p:nvSpPr>
        <p:spPr>
          <a:xfrm>
            <a:off x="4480560" y="2898648"/>
            <a:ext cx="3438144" cy="18105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DEPENDENCY REVIEW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See risky package changes before merging.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1AE99-B1D1-83F1-518F-158594C4F642}"/>
              </a:ext>
            </a:extLst>
          </p:cNvPr>
          <p:cNvSpPr/>
          <p:nvPr/>
        </p:nvSpPr>
        <p:spPr>
          <a:xfrm>
            <a:off x="8302752" y="2898648"/>
            <a:ext cx="3191256" cy="18105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SECURITY UPDATES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Receive alerts and update vulnerable libraries.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AA586-C0F3-FFCB-EB14-54DFF72B0430}"/>
              </a:ext>
            </a:extLst>
          </p:cNvPr>
          <p:cNvSpPr txBox="1"/>
          <p:nvPr/>
        </p:nvSpPr>
        <p:spPr>
          <a:xfrm>
            <a:off x="1929384" y="5568696"/>
            <a:ext cx="745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Goal: find and fix security issues earlier in the development workflow</a:t>
            </a:r>
          </a:p>
        </p:txBody>
      </p:sp>
    </p:spTree>
    <p:extLst>
      <p:ext uri="{BB962C8B-B14F-4D97-AF65-F5344CB8AC3E}">
        <p14:creationId xmlns:p14="http://schemas.microsoft.com/office/powerpoint/2010/main" val="342084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1005D4-74D6-1ED2-F1EA-E5A390DD4CC9}"/>
              </a:ext>
            </a:extLst>
          </p:cNvPr>
          <p:cNvSpPr txBox="1"/>
          <p:nvPr/>
        </p:nvSpPr>
        <p:spPr>
          <a:xfrm>
            <a:off x="521208" y="585216"/>
            <a:ext cx="9281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6. Monitor, Review, and Respond</a:t>
            </a:r>
          </a:p>
          <a:p>
            <a:endParaRPr lang="en-US" sz="1400" dirty="0"/>
          </a:p>
          <a:p>
            <a:r>
              <a:rPr lang="en-US" sz="1400" dirty="0"/>
              <a:t>Security controls need ongoing attention after they are enabled</a:t>
            </a:r>
            <a:r>
              <a:rPr lang="en-US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7718A-F667-E1E7-7A69-B9DC68F52D0B}"/>
              </a:ext>
            </a:extLst>
          </p:cNvPr>
          <p:cNvSpPr/>
          <p:nvPr/>
        </p:nvSpPr>
        <p:spPr>
          <a:xfrm>
            <a:off x="640080" y="2926081"/>
            <a:ext cx="1527048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Review activity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7F2F4A-DF97-CF7C-4348-1C5F1FED25AE}"/>
              </a:ext>
            </a:extLst>
          </p:cNvPr>
          <p:cNvSpPr/>
          <p:nvPr/>
        </p:nvSpPr>
        <p:spPr>
          <a:xfrm>
            <a:off x="2957229" y="3336777"/>
            <a:ext cx="1609344" cy="879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Investigate </a:t>
            </a:r>
            <a:r>
              <a:rPr lang="en-US" b="1" dirty="0" err="1">
                <a:solidFill>
                  <a:schemeClr val="tx2"/>
                </a:solidFill>
              </a:rPr>
              <a:t>alerts</a:t>
            </a:r>
            <a:r>
              <a:rPr lang="en-US" dirty="0" err="1"/>
              <a:t>alerts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E9D7F-B3FC-3D0D-742B-34A2D9FB7069}"/>
              </a:ext>
            </a:extLst>
          </p:cNvPr>
          <p:cNvSpPr/>
          <p:nvPr/>
        </p:nvSpPr>
        <p:spPr>
          <a:xfrm>
            <a:off x="5623560" y="3262854"/>
            <a:ext cx="1609344" cy="8793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Fix &amp; rotate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124D2-4C4C-0B5F-1C81-6244923FB9D4}"/>
              </a:ext>
            </a:extLst>
          </p:cNvPr>
          <p:cNvSpPr/>
          <p:nvPr/>
        </p:nvSpPr>
        <p:spPr>
          <a:xfrm>
            <a:off x="8330184" y="2897081"/>
            <a:ext cx="1472184" cy="8793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Improve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81763-4C94-73DE-A4FE-AB2F74BF257D}"/>
              </a:ext>
            </a:extLst>
          </p:cNvPr>
          <p:cNvSpPr txBox="1"/>
          <p:nvPr/>
        </p:nvSpPr>
        <p:spPr>
          <a:xfrm>
            <a:off x="800100" y="5977057"/>
            <a:ext cx="7754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Keep a SECURITY.md file so people know how to report vulnerabilities safely.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A90A898-D77B-2102-220E-95CFBE3DEDC4}"/>
              </a:ext>
            </a:extLst>
          </p:cNvPr>
          <p:cNvSpPr/>
          <p:nvPr/>
        </p:nvSpPr>
        <p:spPr>
          <a:xfrm rot="2008164">
            <a:off x="2304288" y="3328416"/>
            <a:ext cx="46634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A445CB5-C41D-4C11-40F0-D1D19D32C0B2}"/>
              </a:ext>
            </a:extLst>
          </p:cNvPr>
          <p:cNvSpPr/>
          <p:nvPr/>
        </p:nvSpPr>
        <p:spPr>
          <a:xfrm>
            <a:off x="4676441" y="3726180"/>
            <a:ext cx="603504" cy="1005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279972E-278F-210D-E742-6FFA42794720}"/>
              </a:ext>
            </a:extLst>
          </p:cNvPr>
          <p:cNvSpPr/>
          <p:nvPr/>
        </p:nvSpPr>
        <p:spPr>
          <a:xfrm rot="19883372" flipV="1">
            <a:off x="7345689" y="3366360"/>
            <a:ext cx="630936" cy="816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5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21EF0B-ECAD-4259-BD68-744E9CB20600}"/>
              </a:ext>
            </a:extLst>
          </p:cNvPr>
          <p:cNvSpPr txBox="1"/>
          <p:nvPr/>
        </p:nvSpPr>
        <p:spPr>
          <a:xfrm>
            <a:off x="438912" y="576072"/>
            <a:ext cx="7196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References</a:t>
            </a:r>
          </a:p>
          <a:p>
            <a:endParaRPr lang="en-US" dirty="0"/>
          </a:p>
          <a:p>
            <a:r>
              <a:rPr lang="en-US" sz="1400" dirty="0"/>
              <a:t>Primary sources used for the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B3AAA-E81E-4BEF-AC41-4DF7CF3DA351}"/>
              </a:ext>
            </a:extLst>
          </p:cNvPr>
          <p:cNvSpPr txBox="1"/>
          <p:nvPr/>
        </p:nvSpPr>
        <p:spPr>
          <a:xfrm>
            <a:off x="786384" y="1993392"/>
            <a:ext cx="70591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NIST – Secure Software Development Framework (SSDF)</a:t>
            </a:r>
          </a:p>
          <a:p>
            <a:r>
              <a:rPr lang="en-US" dirty="0">
                <a:hlinkClick r:id="rId2"/>
              </a:rPr>
              <a:t>https://csrc.nist.gov/projects/ssdf</a:t>
            </a:r>
            <a:endParaRPr lang="en-US" dirty="0"/>
          </a:p>
          <a:p>
            <a:endParaRPr lang="en-US" dirty="0"/>
          </a:p>
          <a:p>
            <a:r>
              <a:rPr lang="en-US" dirty="0"/>
              <a:t>GitHub Docs – Securing Your Repository</a:t>
            </a:r>
          </a:p>
          <a:p>
            <a:r>
              <a:rPr lang="en-US" dirty="0">
                <a:hlinkClick r:id="rId3"/>
              </a:rPr>
              <a:t>https://docs.github.com/en/code-security/getting-started/quickstart-for-securing-your-repository</a:t>
            </a:r>
            <a:endParaRPr lang="en-US" dirty="0"/>
          </a:p>
          <a:p>
            <a:endParaRPr lang="en-US" dirty="0"/>
          </a:p>
          <a:p>
            <a:r>
              <a:rPr lang="en-US" dirty="0"/>
              <a:t>OWASP – Secrets Management Cheat Sheet</a:t>
            </a:r>
          </a:p>
          <a:p>
            <a:r>
              <a:rPr lang="en-US" dirty="0">
                <a:hlinkClick r:id="rId4"/>
              </a:rPr>
              <a:t>https://cheatsheetseries.owasp.org/cheatsheets/Secrets_Management_Cheat_Sheet.html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8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542</Words>
  <Application>Microsoft Office PowerPoint</Application>
  <PresentationFormat>Widescreen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SECURITY CONTROL  Shared Source Code Repositories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shrestha</dc:creator>
  <cp:lastModifiedBy>Suresh shrestha</cp:lastModifiedBy>
  <cp:revision>9</cp:revision>
  <dcterms:created xsi:type="dcterms:W3CDTF">2026-10-02T00:09:21Z</dcterms:created>
  <dcterms:modified xsi:type="dcterms:W3CDTF">2026-10-02T02:41:41Z</dcterms:modified>
</cp:coreProperties>
</file>