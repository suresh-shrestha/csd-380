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08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61 24575,'115'2'0,"125"-5"0,-80-23 0,-91 13 0,-31 6 0,70-6 0,-97 13 0,-1 0 0,1 0 0,-1 1 0,1 1 0,-1-1 0,1 2 0,-1-1 0,0 2 0,0-1 0,0 1 0,12 8 0,-21-12 0,0 0 0,-1 0 0,1 0 0,0 1 0,-1-1 0,1 0 0,0 1 0,-1-1 0,1 0 0,-1 1 0,1-1 0,-1 1 0,1-1 0,-1 1 0,1-1 0,-1 1 0,1-1 0,-1 1 0,1 0 0,-1-1 0,0 1 0,0 0 0,1-1 0,-1 1 0,0 0 0,0-1 0,0 1 0,1 0 0,-1-1 0,0 1 0,0 0 0,0 1 0,-1-2 0,-1 1 0,1 0 0,0 0 0,0 0 0,0 0 0,-1-1 0,1 1 0,0-1 0,-1 1 0,1-1 0,-1 1 0,1-1 0,0 0 0,-3 0 0,-61 4 0,62-4 0,-188-15 0,-5 0 0,135 15 0,-3-1 0,0 2 0,-98 16 0,128-11 0,0-3 0,-49 0 0,988-4-1365,-887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1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23513,'812'0'0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1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24123,'731'0'0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23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23778,'945'-27'0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2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23506,'973'-27'0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30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31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31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1:3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2:0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5T02:22:00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0804-269E-FC4B-8161-981CD4AE4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7B83A-2FB5-B3A3-2FEE-5D917CD3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5F0B9-30C1-EC64-5872-CF50DEA0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A1F44-FB13-86F5-7C78-831FF061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F0676-F332-B623-0CF6-E3418C05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1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DCC0-B668-5C91-87DE-0A6DF684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BC539-89A4-D286-E730-7D52EF6E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6B6F7-CA31-510E-8AAA-D9244FBD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6750A-9255-9078-C601-AE05F06A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B43FD-A2D2-F30B-5EB7-10C9FB9A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5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23B7-5011-4A70-7E4A-A26BD3C9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D78A5-A724-B22A-9897-CE874027D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C5013-2F9C-B8DF-871C-244B2BCB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5445B-70DB-D5FB-3E71-2E5F4297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026D2-9C0B-E391-4E3E-50B6E09B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08B4-C1C5-645A-5438-615858CF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B6F68-CA53-FB52-B225-E7777927D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5B0EA-D072-D508-8EC0-C5A74B5B2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EDC98-D228-35B3-C81E-A2B47EBC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95F5-380B-6507-DB6C-5DDBC388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0DB57-8A53-BEBC-478A-7B2F77D3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3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01BF-027F-7EC6-8535-51F2E1C6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60BDA-2679-AF3D-DFA7-3DBA89C6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F31C2-A756-A060-F392-D71F06F0F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AD971-989A-4325-12B2-1B731831A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07ABC-8B82-8D82-5058-D752537AD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5C6F4-8AFD-49E9-54A4-807F6547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BE44D8-C758-A267-DA4E-26D1D7D0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19F2D-67BF-54C6-343F-B59489A4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8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4AC1-18B7-2E22-FDD7-F0FFDDAF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F688A-DBE6-B340-4690-3FF9CBCC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2EBC3-6295-D808-0017-B4826C6C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188E9-96C1-07E1-B138-540A1FBE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5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B28D1-08A5-A34E-7DCA-04CB8F22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D0899-41D9-52AD-4F38-6C6E4B12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60079-C208-C64D-EEAA-B5AA34CB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5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1D91-A62C-9CCC-9939-012CAB98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46AC-A309-592B-EF01-331D706FD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7D4A1-446A-AFBC-0448-B49E2A7C8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03D9F-1092-20C7-C6E5-EDD6FAB7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8978D-06AB-754B-E5A8-304F8472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572E6-636A-491F-C872-F70151DA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59AA-8821-66E6-4EFE-91225043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EA445-1272-9ED5-029F-DF563FAF0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B5CD6-C0A0-EBE5-83E1-CE2E82600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64688-E650-F247-F043-B10FF13B1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2CAC6-DA18-9DCE-81B0-E7000BC3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D1197-2ADA-7BFA-CFCD-BD54B00C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2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41FB-DBEC-AE20-5F8D-14D457A6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0CA35-05E8-E652-8161-D20E2AA34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2F988-411B-EA02-4E64-D054F9CB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8E261-30A8-4C72-530C-B4A7CFAD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24E51-8492-6107-8BFE-7EBFDAD3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1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DDF5C-A7CA-1F11-E479-E57A41471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30EBB-FDA1-E0AA-3387-0E02022CD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84F6D-E3F9-6112-32DC-A6C42E3C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4E40F-D394-5BB5-0B62-B458CF1C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B95D7-C0DA-F245-7836-1B4C1889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9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CE269-53F3-CF29-9CD7-AEC8D9BA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5F94F-3830-7849-DE27-934FF932F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3750F-ACA9-2144-C13D-A46CE1DDC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41D62-E787-4C09-BE77-32A15846978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DDDFF-1A79-BFF4-894C-AB17180AD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051A1-DF7D-2CCB-31F0-140AB7F56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6B21B-5B25-415D-AB26-C42F87F7C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7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11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customXml" Target="../ink/ink10.xml"/><Relationship Id="rId2" Type="http://schemas.openxmlformats.org/officeDocument/2006/relationships/customXml" Target="../ink/ink1.xm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customXml" Target="../ink/ink8.xml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1939-2735-6CD7-B510-4AF47B5BB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1344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58910-8881-A3D4-54C0-5ADB428FE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6272"/>
            <a:ext cx="9144000" cy="2981528"/>
          </a:xfrm>
        </p:spPr>
        <p:txBody>
          <a:bodyPr/>
          <a:lstStyle/>
          <a:p>
            <a:r>
              <a:rPr lang="en-US" dirty="0"/>
              <a:t>Suresh shrestha</a:t>
            </a:r>
          </a:p>
          <a:p>
            <a:r>
              <a:rPr lang="en-US" dirty="0"/>
              <a:t>DevOps – Module – 1.2 Assignment</a:t>
            </a:r>
          </a:p>
          <a:p>
            <a:r>
              <a:rPr lang="en-US" dirty="0"/>
              <a:t>August 15, 2026</a:t>
            </a:r>
          </a:p>
        </p:txBody>
      </p:sp>
    </p:spTree>
    <p:extLst>
      <p:ext uri="{BB962C8B-B14F-4D97-AF65-F5344CB8AC3E}">
        <p14:creationId xmlns:p14="http://schemas.microsoft.com/office/powerpoint/2010/main" val="171118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5E87D-4C88-161C-34C2-F731420A4D8C}"/>
              </a:ext>
            </a:extLst>
          </p:cNvPr>
          <p:cNvSpPr txBox="1"/>
          <p:nvPr/>
        </p:nvSpPr>
        <p:spPr>
          <a:xfrm>
            <a:off x="1079770" y="1099226"/>
            <a:ext cx="107587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What is the Technology Value Stream?</a:t>
            </a:r>
          </a:p>
          <a:p>
            <a:endParaRPr lang="en-US" dirty="0"/>
          </a:p>
          <a:p>
            <a:r>
              <a:rPr lang="en-US" dirty="0"/>
              <a:t>• In DevOps, the technology value stream is the work required to turn a business idea or objective into a technology service or feature that gives value to the customer.</a:t>
            </a:r>
          </a:p>
          <a:p>
            <a:endParaRPr lang="en-US" dirty="0"/>
          </a:p>
          <a:p>
            <a:r>
              <a:rPr lang="en-US" dirty="0"/>
              <a:t>•  The work begins when Development accepts the idea into its committed backlog.</a:t>
            </a:r>
          </a:p>
          <a:p>
            <a:endParaRPr lang="en-US" dirty="0"/>
          </a:p>
          <a:p>
            <a:r>
              <a:rPr lang="en-US" dirty="0"/>
              <a:t>•  Development turns the idea into user stories, specifications, and code, then integrates and tests each change.</a:t>
            </a:r>
          </a:p>
          <a:p>
            <a:endParaRPr lang="en-US" dirty="0"/>
          </a:p>
          <a:p>
            <a:r>
              <a:rPr lang="en-US" dirty="0"/>
              <a:t>•  Real customer value is created when the service is successfully running in production, so fast flow must also be safe and reliable.</a:t>
            </a:r>
          </a:p>
        </p:txBody>
      </p:sp>
    </p:spTree>
    <p:extLst>
      <p:ext uri="{BB962C8B-B14F-4D97-AF65-F5344CB8AC3E}">
        <p14:creationId xmlns:p14="http://schemas.microsoft.com/office/powerpoint/2010/main" val="283449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557D0-22E8-B24B-C5E7-25D97D03F2BF}"/>
              </a:ext>
            </a:extLst>
          </p:cNvPr>
          <p:cNvSpPr txBox="1"/>
          <p:nvPr/>
        </p:nvSpPr>
        <p:spPr>
          <a:xfrm>
            <a:off x="1070043" y="525294"/>
            <a:ext cx="1090470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Lead Time vs. Processing Time</a:t>
            </a:r>
          </a:p>
          <a:p>
            <a:endParaRPr lang="en-US" dirty="0"/>
          </a:p>
          <a:p>
            <a:r>
              <a:rPr lang="en-US" dirty="0"/>
              <a:t>•  Lead time starts when a request is made and ends when the request is fulfilled.</a:t>
            </a:r>
          </a:p>
          <a:p>
            <a:endParaRPr lang="en-US" dirty="0"/>
          </a:p>
          <a:p>
            <a:r>
              <a:rPr lang="en-US" dirty="0"/>
              <a:t>• Processing time starts only when someone begins actively working on the request. </a:t>
            </a:r>
          </a:p>
          <a:p>
            <a:endParaRPr lang="en-US" dirty="0"/>
          </a:p>
          <a:p>
            <a:r>
              <a:rPr lang="en-US" dirty="0"/>
              <a:t>•  Time spent waiting in a queue is part of lead time, but it is not processing time. </a:t>
            </a:r>
          </a:p>
          <a:p>
            <a:endParaRPr lang="en-US" dirty="0"/>
          </a:p>
          <a:p>
            <a:r>
              <a:rPr lang="en-US" dirty="0"/>
              <a:t>• Because customers experience the total lead time, reducing waiting time is an important part of improving flow. </a:t>
            </a:r>
          </a:p>
        </p:txBody>
      </p:sp>
    </p:spTree>
    <p:extLst>
      <p:ext uri="{BB962C8B-B14F-4D97-AF65-F5344CB8AC3E}">
        <p14:creationId xmlns:p14="http://schemas.microsoft.com/office/powerpoint/2010/main" val="194639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29414-B9CF-BBAA-6633-C5708B100072}"/>
              </a:ext>
            </a:extLst>
          </p:cNvPr>
          <p:cNvSpPr txBox="1"/>
          <p:nvPr/>
        </p:nvSpPr>
        <p:spPr>
          <a:xfrm>
            <a:off x="1133272" y="321010"/>
            <a:ext cx="10437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Graphic: Lead Time vs, Processing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25C470-418C-933C-6AC2-B9FA9F935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6714"/>
              </p:ext>
            </p:extLst>
          </p:nvPr>
        </p:nvGraphicFramePr>
        <p:xfrm>
          <a:off x="1994109" y="3881284"/>
          <a:ext cx="5544107" cy="512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107">
                  <a:extLst>
                    <a:ext uri="{9D8B030D-6E8A-4147-A177-3AD203B41FA5}">
                      <a16:colId xmlns:a16="http://schemas.microsoft.com/office/drawing/2014/main" val="1500841163"/>
                    </a:ext>
                  </a:extLst>
                </a:gridCol>
              </a:tblGrid>
              <a:tr h="512341">
                <a:tc>
                  <a:txBody>
                    <a:bodyPr/>
                    <a:lstStyle/>
                    <a:p>
                      <a:r>
                        <a:rPr lang="en-US" dirty="0"/>
                        <a:t>LEAD TIME = timeline from request to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4984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2A0C51-C2E5-787C-1825-FF86EE90C6AB}"/>
              </a:ext>
            </a:extLst>
          </p:cNvPr>
          <p:cNvSpPr txBox="1"/>
          <p:nvPr/>
        </p:nvSpPr>
        <p:spPr>
          <a:xfrm>
            <a:off x="1652622" y="5000017"/>
            <a:ext cx="8746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PROCESSING TIME = only the periods when development, testing, and deployment work is actively performed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0EEF39-1BEE-40EE-9E20-42DDB37C2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295417"/>
              </p:ext>
            </p:extLst>
          </p:nvPr>
        </p:nvGraphicFramePr>
        <p:xfrm>
          <a:off x="1021403" y="1381327"/>
          <a:ext cx="1167322" cy="535021"/>
        </p:xfrm>
        <a:graphic>
          <a:graphicData uri="http://schemas.openxmlformats.org/drawingml/2006/table">
            <a:tbl>
              <a:tblPr/>
              <a:tblGrid>
                <a:gridCol w="1167322">
                  <a:extLst>
                    <a:ext uri="{9D8B030D-6E8A-4147-A177-3AD203B41FA5}">
                      <a16:colId xmlns:a16="http://schemas.microsoft.com/office/drawing/2014/main" val="3679926931"/>
                    </a:ext>
                  </a:extLst>
                </a:gridCol>
              </a:tblGrid>
              <a:tr h="535021">
                <a:tc>
                  <a:txBody>
                    <a:bodyPr/>
                    <a:lstStyle/>
                    <a:p>
                      <a:r>
                        <a:rPr lang="en-US" sz="1400" dirty="0"/>
                        <a:t>Request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91915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FCC231-CC13-9BA2-F490-53231F880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889214"/>
              </p:ext>
            </p:extLst>
          </p:nvPr>
        </p:nvGraphicFramePr>
        <p:xfrm>
          <a:off x="2480553" y="1361872"/>
          <a:ext cx="1245141" cy="554477"/>
        </p:xfrm>
        <a:graphic>
          <a:graphicData uri="http://schemas.openxmlformats.org/drawingml/2006/table">
            <a:tbl>
              <a:tblPr/>
              <a:tblGrid>
                <a:gridCol w="1245141">
                  <a:extLst>
                    <a:ext uri="{9D8B030D-6E8A-4147-A177-3AD203B41FA5}">
                      <a16:colId xmlns:a16="http://schemas.microsoft.com/office/drawing/2014/main" val="2974205193"/>
                    </a:ext>
                  </a:extLst>
                </a:gridCol>
              </a:tblGrid>
              <a:tr h="554477">
                <a:tc>
                  <a:txBody>
                    <a:bodyPr/>
                    <a:lstStyle/>
                    <a:p>
                      <a:r>
                        <a:rPr lang="en-US" sz="1400" dirty="0"/>
                        <a:t>Waiting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27853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98FF89-B7EC-C92D-4A56-AA50EE2E9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017349"/>
              </p:ext>
            </p:extLst>
          </p:nvPr>
        </p:nvGraphicFramePr>
        <p:xfrm>
          <a:off x="4027251" y="1352145"/>
          <a:ext cx="1371600" cy="5544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955231593"/>
                    </a:ext>
                  </a:extLst>
                </a:gridCol>
              </a:tblGrid>
              <a:tr h="554476">
                <a:tc>
                  <a:txBody>
                    <a:bodyPr/>
                    <a:lstStyle/>
                    <a:p>
                      <a:r>
                        <a:rPr lang="en-US" sz="1400" dirty="0"/>
                        <a:t>Development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5699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9CE64A-BD69-F229-511D-519B15D0D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779502"/>
              </p:ext>
            </p:extLst>
          </p:nvPr>
        </p:nvGraphicFramePr>
        <p:xfrm>
          <a:off x="5700408" y="1352145"/>
          <a:ext cx="1303507" cy="583659"/>
        </p:xfrm>
        <a:graphic>
          <a:graphicData uri="http://schemas.openxmlformats.org/drawingml/2006/table">
            <a:tbl>
              <a:tblPr/>
              <a:tblGrid>
                <a:gridCol w="1303507">
                  <a:extLst>
                    <a:ext uri="{9D8B030D-6E8A-4147-A177-3AD203B41FA5}">
                      <a16:colId xmlns:a16="http://schemas.microsoft.com/office/drawing/2014/main" val="1730332952"/>
                    </a:ext>
                  </a:extLst>
                </a:gridCol>
              </a:tblGrid>
              <a:tr h="583659">
                <a:tc>
                  <a:txBody>
                    <a:bodyPr/>
                    <a:lstStyle/>
                    <a:p>
                      <a:r>
                        <a:rPr lang="en-US" sz="1400" dirty="0"/>
                        <a:t>Waiting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31485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8B8E00-CB5B-07A5-6777-CF2EA6D7D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70600"/>
              </p:ext>
            </p:extLst>
          </p:nvPr>
        </p:nvGraphicFramePr>
        <p:xfrm>
          <a:off x="7344383" y="1352145"/>
          <a:ext cx="1381328" cy="583659"/>
        </p:xfrm>
        <a:graphic>
          <a:graphicData uri="http://schemas.openxmlformats.org/drawingml/2006/table">
            <a:tbl>
              <a:tblPr/>
              <a:tblGrid>
                <a:gridCol w="1381328">
                  <a:extLst>
                    <a:ext uri="{9D8B030D-6E8A-4147-A177-3AD203B41FA5}">
                      <a16:colId xmlns:a16="http://schemas.microsoft.com/office/drawing/2014/main" val="1735661121"/>
                    </a:ext>
                  </a:extLst>
                </a:gridCol>
              </a:tblGrid>
              <a:tr h="583659">
                <a:tc>
                  <a:txBody>
                    <a:bodyPr/>
                    <a:lstStyle/>
                    <a:p>
                      <a:r>
                        <a:rPr lang="en-US" sz="1400" dirty="0"/>
                        <a:t>Testing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72294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4471EBC-B2BF-0687-7F0D-4AE3E1B27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15968"/>
              </p:ext>
            </p:extLst>
          </p:nvPr>
        </p:nvGraphicFramePr>
        <p:xfrm>
          <a:off x="9066179" y="1352146"/>
          <a:ext cx="1498059" cy="554476"/>
        </p:xfrm>
        <a:graphic>
          <a:graphicData uri="http://schemas.openxmlformats.org/drawingml/2006/table">
            <a:tbl>
              <a:tblPr/>
              <a:tblGrid>
                <a:gridCol w="1498059">
                  <a:extLst>
                    <a:ext uri="{9D8B030D-6E8A-4147-A177-3AD203B41FA5}">
                      <a16:colId xmlns:a16="http://schemas.microsoft.com/office/drawing/2014/main" val="3851979862"/>
                    </a:ext>
                  </a:extLst>
                </a:gridCol>
              </a:tblGrid>
              <a:tr h="554476">
                <a:tc>
                  <a:txBody>
                    <a:bodyPr/>
                    <a:lstStyle/>
                    <a:p>
                      <a:r>
                        <a:rPr lang="en-US" sz="1400" dirty="0"/>
                        <a:t>Deployment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0119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90755B4-F3C6-3A58-76BF-903F22337123}"/>
                  </a:ext>
                </a:extLst>
              </p14:cNvPr>
              <p14:cNvContentPartPr/>
              <p14:nvPr/>
            </p14:nvContentPartPr>
            <p14:xfrm>
              <a:off x="2153229" y="1641477"/>
              <a:ext cx="352800" cy="22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90755B4-F3C6-3A58-76BF-903F223371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7109" y="1635357"/>
                <a:ext cx="3650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4E1C06B-993E-3ABE-FA64-AB9E0B4477B3}"/>
                  </a:ext>
                </a:extLst>
              </p14:cNvPr>
              <p14:cNvContentPartPr/>
              <p14:nvPr/>
            </p14:nvContentPartPr>
            <p14:xfrm>
              <a:off x="3744789" y="1633917"/>
              <a:ext cx="292680" cy="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4E1C06B-993E-3ABE-FA64-AB9E0B4477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8669" y="1621677"/>
                <a:ext cx="304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53C1AC2-DB34-6A9F-47B3-30A76AEA2590}"/>
                  </a:ext>
                </a:extLst>
              </p14:cNvPr>
              <p14:cNvContentPartPr/>
              <p14:nvPr/>
            </p14:nvContentPartPr>
            <p14:xfrm>
              <a:off x="5427789" y="1643637"/>
              <a:ext cx="26352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53C1AC2-DB34-6A9F-47B3-30A76AEA25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1669" y="1631397"/>
                <a:ext cx="275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5402934-AE73-D6E3-4F69-9011C69CBF03}"/>
                  </a:ext>
                </a:extLst>
              </p14:cNvPr>
              <p14:cNvContentPartPr/>
              <p14:nvPr/>
            </p14:nvContentPartPr>
            <p14:xfrm>
              <a:off x="7033029" y="1633917"/>
              <a:ext cx="340560" cy="10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5402934-AE73-D6E3-4F69-9011C69CBF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26909" y="1627797"/>
                <a:ext cx="352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395C381-691F-A08D-3146-95B276FF9E28}"/>
                  </a:ext>
                </a:extLst>
              </p14:cNvPr>
              <p14:cNvContentPartPr/>
              <p14:nvPr/>
            </p14:nvContentPartPr>
            <p14:xfrm>
              <a:off x="8744829" y="1633917"/>
              <a:ext cx="350640" cy="10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395C381-691F-A08D-3146-95B276FF9E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38709" y="1627797"/>
                <a:ext cx="362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27926D0-0B65-DA07-2DEE-F3628E4D21BE}"/>
                  </a:ext>
                </a:extLst>
              </p14:cNvPr>
              <p14:cNvContentPartPr/>
              <p14:nvPr/>
            </p14:nvContentPartPr>
            <p14:xfrm>
              <a:off x="4659549" y="2849997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27926D0-0B65-DA07-2DEE-F3628E4D21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53429" y="284387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9CDE336-B920-D605-EFAC-114BDE2BA078}"/>
              </a:ext>
            </a:extLst>
          </p:cNvPr>
          <p:cNvGrpSpPr/>
          <p:nvPr/>
        </p:nvGrpSpPr>
        <p:grpSpPr>
          <a:xfrm>
            <a:off x="6643869" y="563997"/>
            <a:ext cx="360" cy="360"/>
            <a:chOff x="6643869" y="56399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F44343-3188-BDB5-56EE-7FDF73FAD262}"/>
                    </a:ext>
                  </a:extLst>
                </p14:cNvPr>
                <p14:cNvContentPartPr/>
                <p14:nvPr/>
              </p14:nvContentPartPr>
              <p14:xfrm>
                <a:off x="6643869" y="563997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F44343-3188-BDB5-56EE-7FDF73FAD2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37749" y="5578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74B8AF-B91B-6AC8-FEF0-719A5B84CE0C}"/>
                    </a:ext>
                  </a:extLst>
                </p14:cNvPr>
                <p14:cNvContentPartPr/>
                <p14:nvPr/>
              </p14:nvContentPartPr>
              <p14:xfrm>
                <a:off x="6643869" y="563997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74B8AF-B91B-6AC8-FEF0-719A5B84CE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37749" y="55787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2D9566-FA16-8B0C-739B-8A8D7140FFC7}"/>
                  </a:ext>
                </a:extLst>
              </p14:cNvPr>
              <p14:cNvContentPartPr/>
              <p14:nvPr/>
            </p14:nvContentPartPr>
            <p14:xfrm>
              <a:off x="1994109" y="2645877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2D9566-FA16-8B0C-739B-8A8D7140FFC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87989" y="263975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B3AE788-ABC5-10C6-41C5-7BCAFCAE5E5B}"/>
              </a:ext>
            </a:extLst>
          </p:cNvPr>
          <p:cNvGrpSpPr/>
          <p:nvPr/>
        </p:nvGrpSpPr>
        <p:grpSpPr>
          <a:xfrm>
            <a:off x="2198229" y="2976357"/>
            <a:ext cx="360" cy="360"/>
            <a:chOff x="2198229" y="2976357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DA3212-EB8E-9A5A-E53D-02AEA2586586}"/>
                    </a:ext>
                  </a:extLst>
                </p14:cNvPr>
                <p14:cNvContentPartPr/>
                <p14:nvPr/>
              </p14:nvContentPartPr>
              <p14:xfrm>
                <a:off x="2198229" y="2976357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DA3212-EB8E-9A5A-E53D-02AEA25865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2109" y="29702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BC97B88-751F-ADF9-A450-204DF2F628AA}"/>
                    </a:ext>
                  </a:extLst>
                </p14:cNvPr>
                <p14:cNvContentPartPr/>
                <p14:nvPr/>
              </p14:nvContentPartPr>
              <p14:xfrm>
                <a:off x="2198229" y="2976357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BC97B88-751F-ADF9-A450-204DF2F628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2109" y="297023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1713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5802B-8D97-FA02-D7AF-60728562281A}"/>
              </a:ext>
            </a:extLst>
          </p:cNvPr>
          <p:cNvSpPr txBox="1"/>
          <p:nvPr/>
        </p:nvSpPr>
        <p:spPr>
          <a:xfrm>
            <a:off x="612843" y="437745"/>
            <a:ext cx="1116735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Common Scenario: Deployment Lead Times Requiring Months</a:t>
            </a:r>
          </a:p>
          <a:p>
            <a:endParaRPr lang="en-US" dirty="0"/>
          </a:p>
          <a:p>
            <a:r>
              <a:rPr lang="en-US" dirty="0"/>
              <a:t>• Many teams, especially in large and complex organizations, may need months to deploy a change.</a:t>
            </a:r>
          </a:p>
          <a:p>
            <a:endParaRPr lang="en-US" dirty="0"/>
          </a:p>
          <a:p>
            <a:r>
              <a:rPr lang="en-US" dirty="0"/>
              <a:t>• Common causes include tightly coupled or monolithic systems and limited integration-test environments</a:t>
            </a:r>
          </a:p>
          <a:p>
            <a:endParaRPr lang="en-US" dirty="0"/>
          </a:p>
          <a:p>
            <a:r>
              <a:rPr lang="en-US" dirty="0"/>
              <a:t>• Long test and production environment setup times, heavy manual testing, and multiple approval processes add more waiting. </a:t>
            </a:r>
          </a:p>
          <a:p>
            <a:endParaRPr lang="en-US" dirty="0"/>
          </a:p>
          <a:p>
            <a:r>
              <a:rPr lang="en-US" dirty="0"/>
              <a:t>• The result is a complicated value stream with many handoffs, queues, and delays. </a:t>
            </a:r>
          </a:p>
        </p:txBody>
      </p:sp>
    </p:spTree>
    <p:extLst>
      <p:ext uri="{BB962C8B-B14F-4D97-AF65-F5344CB8AC3E}">
        <p14:creationId xmlns:p14="http://schemas.microsoft.com/office/powerpoint/2010/main" val="175050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15BF5-680B-9ACB-E67B-CEFBB5905808}"/>
              </a:ext>
            </a:extLst>
          </p:cNvPr>
          <p:cNvSpPr txBox="1"/>
          <p:nvPr/>
        </p:nvSpPr>
        <p:spPr>
          <a:xfrm>
            <a:off x="447472" y="291830"/>
            <a:ext cx="1147863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Why Long Deployment Lead Times Are a Problem</a:t>
            </a:r>
          </a:p>
          <a:p>
            <a:endParaRPr lang="en-US" dirty="0"/>
          </a:p>
          <a:p>
            <a:r>
              <a:rPr lang="en-US" dirty="0"/>
              <a:t>• With long lead times, teams many need major effort at almost every stage just to keep the work moving.</a:t>
            </a:r>
          </a:p>
          <a:p>
            <a:endParaRPr lang="en-US" dirty="0"/>
          </a:p>
          <a:p>
            <a:r>
              <a:rPr lang="en-US" dirty="0"/>
              <a:t>• When many development changes are finally merged, the code may no longer build correctly or pass its tests. </a:t>
            </a:r>
          </a:p>
          <a:p>
            <a:endParaRPr lang="en-US" dirty="0"/>
          </a:p>
          <a:p>
            <a:r>
              <a:rPr lang="en-US" dirty="0"/>
              <a:t>• Finding who or what caused a problem can require days or weeks of investigation.</a:t>
            </a:r>
          </a:p>
          <a:p>
            <a:endParaRPr lang="en-US" dirty="0"/>
          </a:p>
          <a:p>
            <a:r>
              <a:rPr lang="en-US" dirty="0"/>
              <a:t>• These late problems increase rework and can still lead to poor customer outcomes</a:t>
            </a:r>
          </a:p>
        </p:txBody>
      </p:sp>
    </p:spTree>
    <p:extLst>
      <p:ext uri="{BB962C8B-B14F-4D97-AF65-F5344CB8AC3E}">
        <p14:creationId xmlns:p14="http://schemas.microsoft.com/office/powerpoint/2010/main" val="96580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4820DE-4A7B-D64C-3858-067834587F8D}"/>
              </a:ext>
            </a:extLst>
          </p:cNvPr>
          <p:cNvSpPr txBox="1"/>
          <p:nvPr/>
        </p:nvSpPr>
        <p:spPr>
          <a:xfrm>
            <a:off x="428017" y="330740"/>
            <a:ext cx="1116735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Our DevOps Ideal: Deployment Lead Times of Minutes</a:t>
            </a:r>
          </a:p>
          <a:p>
            <a:endParaRPr lang="en-US" dirty="0"/>
          </a:p>
          <a:p>
            <a:r>
              <a:rPr lang="en-US" dirty="0"/>
              <a:t>• In the DevOps ideal, developers receive fast and continuous feedback on their work.</a:t>
            </a:r>
          </a:p>
          <a:p>
            <a:endParaRPr lang="en-US" dirty="0"/>
          </a:p>
          <a:p>
            <a:r>
              <a:rPr lang="en-US" dirty="0"/>
              <a:t>• Teams make small code changes and integrate them frequently into version control.</a:t>
            </a:r>
          </a:p>
          <a:p>
            <a:endParaRPr lang="en-US" dirty="0"/>
          </a:p>
          <a:p>
            <a:r>
              <a:rPr lang="en-US" dirty="0"/>
              <a:t>• Automated and exploratory testing helps validate changes quickly.</a:t>
            </a:r>
          </a:p>
          <a:p>
            <a:endParaRPr lang="en-US" dirty="0"/>
          </a:p>
          <a:p>
            <a:r>
              <a:rPr lang="en-US" dirty="0"/>
              <a:t>• Changes can be deployed to production with confidence, and problems can be detected and corrected quickly.</a:t>
            </a:r>
          </a:p>
          <a:p>
            <a:endParaRPr lang="en-US" dirty="0"/>
          </a:p>
          <a:p>
            <a:r>
              <a:rPr lang="en-US" dirty="0"/>
              <a:t>• Deployment lead time can be measured in minutes or, in the worst case, hours.</a:t>
            </a:r>
          </a:p>
        </p:txBody>
      </p:sp>
    </p:spTree>
    <p:extLst>
      <p:ext uri="{BB962C8B-B14F-4D97-AF65-F5344CB8AC3E}">
        <p14:creationId xmlns:p14="http://schemas.microsoft.com/office/powerpoint/2010/main" val="394455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79161F-8B53-7CAB-F34A-7828FAF04FFC}"/>
              </a:ext>
            </a:extLst>
          </p:cNvPr>
          <p:cNvSpPr txBox="1"/>
          <p:nvPr/>
        </p:nvSpPr>
        <p:spPr>
          <a:xfrm>
            <a:off x="515566" y="389106"/>
            <a:ext cx="11313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	</a:t>
            </a:r>
            <a:r>
              <a:rPr lang="en-US" sz="2800" b="1" dirty="0">
                <a:solidFill>
                  <a:schemeClr val="accent1"/>
                </a:solidFill>
              </a:rPr>
              <a:t>DevOps Ideal: A 25-Minute Value Stream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5D258-27CE-93C2-07FF-1CFEEAD3FB4D}"/>
              </a:ext>
            </a:extLst>
          </p:cNvPr>
          <p:cNvSpPr txBox="1"/>
          <p:nvPr/>
        </p:nvSpPr>
        <p:spPr>
          <a:xfrm>
            <a:off x="797668" y="1507787"/>
            <a:ext cx="110311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•The textbook example shows a total cycle time of 25 minutes.</a:t>
            </a:r>
          </a:p>
          <a:p>
            <a:endParaRPr lang="en-US" dirty="0"/>
          </a:p>
          <a:p>
            <a:r>
              <a:rPr lang="en-US" dirty="0"/>
              <a:t>• Automated test: 10 minutes</a:t>
            </a:r>
          </a:p>
          <a:p>
            <a:endParaRPr lang="en-US" dirty="0"/>
          </a:p>
          <a:p>
            <a:r>
              <a:rPr lang="en-US" dirty="0"/>
              <a:t>• Exploratory test: 10 minutes</a:t>
            </a:r>
          </a:p>
          <a:p>
            <a:endParaRPr lang="en-US" dirty="0"/>
          </a:p>
          <a:p>
            <a:r>
              <a:rPr lang="en-US" dirty="0"/>
              <a:t>• Production deployment: 5 minutes</a:t>
            </a:r>
          </a:p>
          <a:p>
            <a:endParaRPr lang="en-US" dirty="0"/>
          </a:p>
          <a:p>
            <a:r>
              <a:rPr lang="en-US" dirty="0"/>
              <a:t>• The example combines automation with manual approval where needed while still keeping the overall flow fast.</a:t>
            </a:r>
          </a:p>
        </p:txBody>
      </p:sp>
    </p:spTree>
    <p:extLst>
      <p:ext uri="{BB962C8B-B14F-4D97-AF65-F5344CB8AC3E}">
        <p14:creationId xmlns:p14="http://schemas.microsoft.com/office/powerpoint/2010/main" val="3657191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5D0D7C-D015-68FA-13EA-6A413462202A}"/>
              </a:ext>
            </a:extLst>
          </p:cNvPr>
          <p:cNvSpPr txBox="1"/>
          <p:nvPr/>
        </p:nvSpPr>
        <p:spPr>
          <a:xfrm>
            <a:off x="272374" y="184826"/>
            <a:ext cx="1140081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			Conclusion and references</a:t>
            </a:r>
          </a:p>
          <a:p>
            <a:endParaRPr lang="en-US" dirty="0"/>
          </a:p>
          <a:p>
            <a:r>
              <a:rPr lang="en-US" dirty="0"/>
              <a:t>• The Technology Value Stream connects a business idea to a service or feature that creates value for the customer.</a:t>
            </a:r>
          </a:p>
          <a:p>
            <a:endParaRPr lang="en-US" dirty="0"/>
          </a:p>
          <a:p>
            <a:r>
              <a:rPr lang="en-US" dirty="0"/>
              <a:t>• Lead time includes both active work and waiting, while processing time measures only active work.</a:t>
            </a:r>
          </a:p>
          <a:p>
            <a:endParaRPr lang="en-US" dirty="0"/>
          </a:p>
          <a:p>
            <a:r>
              <a:rPr lang="en-US" dirty="0"/>
              <a:t>• Long deployment lead times often come from complex systems, manual work, limited environments, and many approvals.</a:t>
            </a:r>
          </a:p>
          <a:p>
            <a:endParaRPr lang="en-US" dirty="0"/>
          </a:p>
          <a:p>
            <a:r>
              <a:rPr lang="en-US" dirty="0"/>
              <a:t>• The DevOps ideal uses small changes, fast feedback, testing, automation, and loosely coupled systems to reduce deployment lead time from months to minutes.</a:t>
            </a:r>
          </a:p>
          <a:p>
            <a:endParaRPr lang="en-US" dirty="0"/>
          </a:p>
          <a:p>
            <a:r>
              <a:rPr lang="en-US" dirty="0"/>
              <a:t>• Primary source: Kim, G., Huble, J., Debois, P., Willis, J., &amp; Forsgren, N.(2021). The DevOps Handbook (2</a:t>
            </a:r>
            <a:r>
              <a:rPr lang="en-US" baseline="30000" dirty="0"/>
              <a:t>nd</a:t>
            </a:r>
            <a:r>
              <a:rPr lang="en-US" dirty="0"/>
              <a:t> ed.).</a:t>
            </a:r>
          </a:p>
          <a:p>
            <a:r>
              <a:rPr lang="en-US" dirty="0"/>
              <a:t> IT revolution.</a:t>
            </a:r>
          </a:p>
        </p:txBody>
      </p:sp>
    </p:spTree>
    <p:extLst>
      <p:ext uri="{BB962C8B-B14F-4D97-AF65-F5344CB8AC3E}">
        <p14:creationId xmlns:p14="http://schemas.microsoft.com/office/powerpoint/2010/main" val="345893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669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Technology Value 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shrestha</dc:creator>
  <cp:lastModifiedBy>Suresh shrestha</cp:lastModifiedBy>
  <cp:revision>14</cp:revision>
  <dcterms:created xsi:type="dcterms:W3CDTF">2026-08-15T01:25:46Z</dcterms:created>
  <dcterms:modified xsi:type="dcterms:W3CDTF">2026-08-15T17:21:39Z</dcterms:modified>
</cp:coreProperties>
</file>