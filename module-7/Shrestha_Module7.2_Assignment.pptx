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2D3BF-92AD-A96F-7252-3DA75064EF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F8A1E6-404E-BA87-D986-418E966D35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0F4A47-B199-BA9F-DD21-FD5658BA5C58}"/>
              </a:ext>
            </a:extLst>
          </p:cNvPr>
          <p:cNvSpPr>
            <a:spLocks noGrp="1"/>
          </p:cNvSpPr>
          <p:nvPr>
            <p:ph type="dt" sz="half" idx="10"/>
          </p:nvPr>
        </p:nvSpPr>
        <p:spPr/>
        <p:txBody>
          <a:bodyPr/>
          <a:lstStyle/>
          <a:p>
            <a:fld id="{4782F719-07FA-48CE-A8B4-FF43BE861438}" type="datetimeFigureOut">
              <a:rPr lang="en-US" smtClean="0"/>
              <a:t>9/18/2026</a:t>
            </a:fld>
            <a:endParaRPr lang="en-US"/>
          </a:p>
        </p:txBody>
      </p:sp>
      <p:sp>
        <p:nvSpPr>
          <p:cNvPr id="5" name="Footer Placeholder 4">
            <a:extLst>
              <a:ext uri="{FF2B5EF4-FFF2-40B4-BE49-F238E27FC236}">
                <a16:creationId xmlns:a16="http://schemas.microsoft.com/office/drawing/2014/main" id="{AA2A4591-D8AB-A17A-7A8C-8BB8E4B387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48FF7-F0E4-F711-E10D-A01BC2907E42}"/>
              </a:ext>
            </a:extLst>
          </p:cNvPr>
          <p:cNvSpPr>
            <a:spLocks noGrp="1"/>
          </p:cNvSpPr>
          <p:nvPr>
            <p:ph type="sldNum" sz="quarter" idx="12"/>
          </p:nvPr>
        </p:nvSpPr>
        <p:spPr/>
        <p:txBody>
          <a:bodyPr/>
          <a:lstStyle/>
          <a:p>
            <a:fld id="{C4B87DDD-EE26-4198-9D2B-F1265CA810EB}" type="slidenum">
              <a:rPr lang="en-US" smtClean="0"/>
              <a:t>‹#›</a:t>
            </a:fld>
            <a:endParaRPr lang="en-US"/>
          </a:p>
        </p:txBody>
      </p:sp>
    </p:spTree>
    <p:extLst>
      <p:ext uri="{BB962C8B-B14F-4D97-AF65-F5344CB8AC3E}">
        <p14:creationId xmlns:p14="http://schemas.microsoft.com/office/powerpoint/2010/main" val="3283678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FB040-8BB8-328B-08AD-3CC9DE20A6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443A1F-3FCC-7E9F-5499-E6502A811C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6F9A82-11AB-A82D-C272-8953608810D4}"/>
              </a:ext>
            </a:extLst>
          </p:cNvPr>
          <p:cNvSpPr>
            <a:spLocks noGrp="1"/>
          </p:cNvSpPr>
          <p:nvPr>
            <p:ph type="dt" sz="half" idx="10"/>
          </p:nvPr>
        </p:nvSpPr>
        <p:spPr/>
        <p:txBody>
          <a:bodyPr/>
          <a:lstStyle/>
          <a:p>
            <a:fld id="{4782F719-07FA-48CE-A8B4-FF43BE861438}" type="datetimeFigureOut">
              <a:rPr lang="en-US" smtClean="0"/>
              <a:t>9/18/2026</a:t>
            </a:fld>
            <a:endParaRPr lang="en-US"/>
          </a:p>
        </p:txBody>
      </p:sp>
      <p:sp>
        <p:nvSpPr>
          <p:cNvPr id="5" name="Footer Placeholder 4">
            <a:extLst>
              <a:ext uri="{FF2B5EF4-FFF2-40B4-BE49-F238E27FC236}">
                <a16:creationId xmlns:a16="http://schemas.microsoft.com/office/drawing/2014/main" id="{7E40DD0A-C203-81E6-9D9B-085BD3F6F6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08250B-53AA-7BC3-0176-687B7897D361}"/>
              </a:ext>
            </a:extLst>
          </p:cNvPr>
          <p:cNvSpPr>
            <a:spLocks noGrp="1"/>
          </p:cNvSpPr>
          <p:nvPr>
            <p:ph type="sldNum" sz="quarter" idx="12"/>
          </p:nvPr>
        </p:nvSpPr>
        <p:spPr/>
        <p:txBody>
          <a:bodyPr/>
          <a:lstStyle/>
          <a:p>
            <a:fld id="{C4B87DDD-EE26-4198-9D2B-F1265CA810EB}" type="slidenum">
              <a:rPr lang="en-US" smtClean="0"/>
              <a:t>‹#›</a:t>
            </a:fld>
            <a:endParaRPr lang="en-US"/>
          </a:p>
        </p:txBody>
      </p:sp>
    </p:spTree>
    <p:extLst>
      <p:ext uri="{BB962C8B-B14F-4D97-AF65-F5344CB8AC3E}">
        <p14:creationId xmlns:p14="http://schemas.microsoft.com/office/powerpoint/2010/main" val="1592006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3F9F4-CE5C-AEFC-0D92-BD4C0B60D3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D86D75-8F7C-A042-BED3-CDF62D8A98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05A164-26A1-276A-6CB6-8C94018662A1}"/>
              </a:ext>
            </a:extLst>
          </p:cNvPr>
          <p:cNvSpPr>
            <a:spLocks noGrp="1"/>
          </p:cNvSpPr>
          <p:nvPr>
            <p:ph type="dt" sz="half" idx="10"/>
          </p:nvPr>
        </p:nvSpPr>
        <p:spPr/>
        <p:txBody>
          <a:bodyPr/>
          <a:lstStyle/>
          <a:p>
            <a:fld id="{4782F719-07FA-48CE-A8B4-FF43BE861438}" type="datetimeFigureOut">
              <a:rPr lang="en-US" smtClean="0"/>
              <a:t>9/18/2026</a:t>
            </a:fld>
            <a:endParaRPr lang="en-US"/>
          </a:p>
        </p:txBody>
      </p:sp>
      <p:sp>
        <p:nvSpPr>
          <p:cNvPr id="5" name="Footer Placeholder 4">
            <a:extLst>
              <a:ext uri="{FF2B5EF4-FFF2-40B4-BE49-F238E27FC236}">
                <a16:creationId xmlns:a16="http://schemas.microsoft.com/office/drawing/2014/main" id="{07578028-6401-2868-A14A-88A962EA9A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7F1277-DE88-2FC4-DE39-BC80347542BD}"/>
              </a:ext>
            </a:extLst>
          </p:cNvPr>
          <p:cNvSpPr>
            <a:spLocks noGrp="1"/>
          </p:cNvSpPr>
          <p:nvPr>
            <p:ph type="sldNum" sz="quarter" idx="12"/>
          </p:nvPr>
        </p:nvSpPr>
        <p:spPr/>
        <p:txBody>
          <a:bodyPr/>
          <a:lstStyle/>
          <a:p>
            <a:fld id="{C4B87DDD-EE26-4198-9D2B-F1265CA810EB}" type="slidenum">
              <a:rPr lang="en-US" smtClean="0"/>
              <a:t>‹#›</a:t>
            </a:fld>
            <a:endParaRPr lang="en-US"/>
          </a:p>
        </p:txBody>
      </p:sp>
    </p:spTree>
    <p:extLst>
      <p:ext uri="{BB962C8B-B14F-4D97-AF65-F5344CB8AC3E}">
        <p14:creationId xmlns:p14="http://schemas.microsoft.com/office/powerpoint/2010/main" val="711078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7744F-ED98-163B-8431-0A5089CCBD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3133D8-3CA3-E20B-5C0E-3B67705E9C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58B701-86E6-7A69-532B-B8D746F8D4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694250-DF39-AB74-7F6C-BE290B4DFE37}"/>
              </a:ext>
            </a:extLst>
          </p:cNvPr>
          <p:cNvSpPr>
            <a:spLocks noGrp="1"/>
          </p:cNvSpPr>
          <p:nvPr>
            <p:ph type="dt" sz="half" idx="10"/>
          </p:nvPr>
        </p:nvSpPr>
        <p:spPr/>
        <p:txBody>
          <a:bodyPr/>
          <a:lstStyle/>
          <a:p>
            <a:fld id="{4782F719-07FA-48CE-A8B4-FF43BE861438}" type="datetimeFigureOut">
              <a:rPr lang="en-US" smtClean="0"/>
              <a:t>9/18/2026</a:t>
            </a:fld>
            <a:endParaRPr lang="en-US"/>
          </a:p>
        </p:txBody>
      </p:sp>
      <p:sp>
        <p:nvSpPr>
          <p:cNvPr id="6" name="Footer Placeholder 5">
            <a:extLst>
              <a:ext uri="{FF2B5EF4-FFF2-40B4-BE49-F238E27FC236}">
                <a16:creationId xmlns:a16="http://schemas.microsoft.com/office/drawing/2014/main" id="{B426BFE0-E621-5090-815E-8EF3F3926B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677B38-47D6-0097-E8FA-BCD3EC328F4C}"/>
              </a:ext>
            </a:extLst>
          </p:cNvPr>
          <p:cNvSpPr>
            <a:spLocks noGrp="1"/>
          </p:cNvSpPr>
          <p:nvPr>
            <p:ph type="sldNum" sz="quarter" idx="12"/>
          </p:nvPr>
        </p:nvSpPr>
        <p:spPr/>
        <p:txBody>
          <a:bodyPr/>
          <a:lstStyle/>
          <a:p>
            <a:fld id="{C4B87DDD-EE26-4198-9D2B-F1265CA810EB}" type="slidenum">
              <a:rPr lang="en-US" smtClean="0"/>
              <a:t>‹#›</a:t>
            </a:fld>
            <a:endParaRPr lang="en-US"/>
          </a:p>
        </p:txBody>
      </p:sp>
    </p:spTree>
    <p:extLst>
      <p:ext uri="{BB962C8B-B14F-4D97-AF65-F5344CB8AC3E}">
        <p14:creationId xmlns:p14="http://schemas.microsoft.com/office/powerpoint/2010/main" val="2325371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3479D-1D41-1A38-651F-4B954F7580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330FE8-C76A-236D-528A-97693EF60E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D7ADD1-A6C7-BD52-934D-7C5440658B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6F1F82-1125-CCB7-E8D0-59DF75E204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A04A1F-6D6A-82C5-4AFD-B3B4FD3660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753805-250A-D097-E33D-CF7840C4C8B5}"/>
              </a:ext>
            </a:extLst>
          </p:cNvPr>
          <p:cNvSpPr>
            <a:spLocks noGrp="1"/>
          </p:cNvSpPr>
          <p:nvPr>
            <p:ph type="dt" sz="half" idx="10"/>
          </p:nvPr>
        </p:nvSpPr>
        <p:spPr/>
        <p:txBody>
          <a:bodyPr/>
          <a:lstStyle/>
          <a:p>
            <a:fld id="{4782F719-07FA-48CE-A8B4-FF43BE861438}" type="datetimeFigureOut">
              <a:rPr lang="en-US" smtClean="0"/>
              <a:t>9/18/2026</a:t>
            </a:fld>
            <a:endParaRPr lang="en-US"/>
          </a:p>
        </p:txBody>
      </p:sp>
      <p:sp>
        <p:nvSpPr>
          <p:cNvPr id="8" name="Footer Placeholder 7">
            <a:extLst>
              <a:ext uri="{FF2B5EF4-FFF2-40B4-BE49-F238E27FC236}">
                <a16:creationId xmlns:a16="http://schemas.microsoft.com/office/drawing/2014/main" id="{B07ED057-379A-5DE5-9F16-8EAF83C26A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6F74164-4412-43B1-BCB9-6DF316DEDC4F}"/>
              </a:ext>
            </a:extLst>
          </p:cNvPr>
          <p:cNvSpPr>
            <a:spLocks noGrp="1"/>
          </p:cNvSpPr>
          <p:nvPr>
            <p:ph type="sldNum" sz="quarter" idx="12"/>
          </p:nvPr>
        </p:nvSpPr>
        <p:spPr/>
        <p:txBody>
          <a:bodyPr/>
          <a:lstStyle/>
          <a:p>
            <a:fld id="{C4B87DDD-EE26-4198-9D2B-F1265CA810EB}" type="slidenum">
              <a:rPr lang="en-US" smtClean="0"/>
              <a:t>‹#›</a:t>
            </a:fld>
            <a:endParaRPr lang="en-US"/>
          </a:p>
        </p:txBody>
      </p:sp>
    </p:spTree>
    <p:extLst>
      <p:ext uri="{BB962C8B-B14F-4D97-AF65-F5344CB8AC3E}">
        <p14:creationId xmlns:p14="http://schemas.microsoft.com/office/powerpoint/2010/main" val="2247343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1E64B-3306-F562-6443-148DFCCCC25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65434B-E474-0813-4D78-6CDB753BC7C7}"/>
              </a:ext>
            </a:extLst>
          </p:cNvPr>
          <p:cNvSpPr>
            <a:spLocks noGrp="1"/>
          </p:cNvSpPr>
          <p:nvPr>
            <p:ph type="dt" sz="half" idx="10"/>
          </p:nvPr>
        </p:nvSpPr>
        <p:spPr/>
        <p:txBody>
          <a:bodyPr/>
          <a:lstStyle/>
          <a:p>
            <a:fld id="{4782F719-07FA-48CE-A8B4-FF43BE861438}" type="datetimeFigureOut">
              <a:rPr lang="en-US" smtClean="0"/>
              <a:t>9/18/2026</a:t>
            </a:fld>
            <a:endParaRPr lang="en-US"/>
          </a:p>
        </p:txBody>
      </p:sp>
      <p:sp>
        <p:nvSpPr>
          <p:cNvPr id="4" name="Footer Placeholder 3">
            <a:extLst>
              <a:ext uri="{FF2B5EF4-FFF2-40B4-BE49-F238E27FC236}">
                <a16:creationId xmlns:a16="http://schemas.microsoft.com/office/drawing/2014/main" id="{7C3E1B0E-46C0-A9CE-4AD9-04804EAF1E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4FF44C-60C2-2246-AB96-F380FA1B26A6}"/>
              </a:ext>
            </a:extLst>
          </p:cNvPr>
          <p:cNvSpPr>
            <a:spLocks noGrp="1"/>
          </p:cNvSpPr>
          <p:nvPr>
            <p:ph type="sldNum" sz="quarter" idx="12"/>
          </p:nvPr>
        </p:nvSpPr>
        <p:spPr/>
        <p:txBody>
          <a:bodyPr/>
          <a:lstStyle/>
          <a:p>
            <a:fld id="{C4B87DDD-EE26-4198-9D2B-F1265CA810EB}" type="slidenum">
              <a:rPr lang="en-US" smtClean="0"/>
              <a:t>‹#›</a:t>
            </a:fld>
            <a:endParaRPr lang="en-US"/>
          </a:p>
        </p:txBody>
      </p:sp>
    </p:spTree>
    <p:extLst>
      <p:ext uri="{BB962C8B-B14F-4D97-AF65-F5344CB8AC3E}">
        <p14:creationId xmlns:p14="http://schemas.microsoft.com/office/powerpoint/2010/main" val="2443960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3CA192-86D4-7C30-CF8D-59931F5F50AA}"/>
              </a:ext>
            </a:extLst>
          </p:cNvPr>
          <p:cNvSpPr>
            <a:spLocks noGrp="1"/>
          </p:cNvSpPr>
          <p:nvPr>
            <p:ph type="dt" sz="half" idx="10"/>
          </p:nvPr>
        </p:nvSpPr>
        <p:spPr/>
        <p:txBody>
          <a:bodyPr/>
          <a:lstStyle/>
          <a:p>
            <a:fld id="{4782F719-07FA-48CE-A8B4-FF43BE861438}" type="datetimeFigureOut">
              <a:rPr lang="en-US" smtClean="0"/>
              <a:t>9/18/2026</a:t>
            </a:fld>
            <a:endParaRPr lang="en-US"/>
          </a:p>
        </p:txBody>
      </p:sp>
      <p:sp>
        <p:nvSpPr>
          <p:cNvPr id="3" name="Footer Placeholder 2">
            <a:extLst>
              <a:ext uri="{FF2B5EF4-FFF2-40B4-BE49-F238E27FC236}">
                <a16:creationId xmlns:a16="http://schemas.microsoft.com/office/drawing/2014/main" id="{8B82B9E5-D247-3A3E-A367-885261D3FF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AD2447-8985-E081-D219-7A521D60EB52}"/>
              </a:ext>
            </a:extLst>
          </p:cNvPr>
          <p:cNvSpPr>
            <a:spLocks noGrp="1"/>
          </p:cNvSpPr>
          <p:nvPr>
            <p:ph type="sldNum" sz="quarter" idx="12"/>
          </p:nvPr>
        </p:nvSpPr>
        <p:spPr/>
        <p:txBody>
          <a:bodyPr/>
          <a:lstStyle/>
          <a:p>
            <a:fld id="{C4B87DDD-EE26-4198-9D2B-F1265CA810EB}" type="slidenum">
              <a:rPr lang="en-US" smtClean="0"/>
              <a:t>‹#›</a:t>
            </a:fld>
            <a:endParaRPr lang="en-US"/>
          </a:p>
        </p:txBody>
      </p:sp>
    </p:spTree>
    <p:extLst>
      <p:ext uri="{BB962C8B-B14F-4D97-AF65-F5344CB8AC3E}">
        <p14:creationId xmlns:p14="http://schemas.microsoft.com/office/powerpoint/2010/main" val="898330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C553F-C2AD-1FD1-EE6F-FFFD543256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28FC0E-40E3-09AA-F3A7-97B4582D49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EBDFCB-0B52-1614-5493-530677B211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4AC95C-BDAB-89EF-AAF0-65B506D77F0D}"/>
              </a:ext>
            </a:extLst>
          </p:cNvPr>
          <p:cNvSpPr>
            <a:spLocks noGrp="1"/>
          </p:cNvSpPr>
          <p:nvPr>
            <p:ph type="dt" sz="half" idx="10"/>
          </p:nvPr>
        </p:nvSpPr>
        <p:spPr/>
        <p:txBody>
          <a:bodyPr/>
          <a:lstStyle/>
          <a:p>
            <a:fld id="{4782F719-07FA-48CE-A8B4-FF43BE861438}" type="datetimeFigureOut">
              <a:rPr lang="en-US" smtClean="0"/>
              <a:t>9/18/2026</a:t>
            </a:fld>
            <a:endParaRPr lang="en-US"/>
          </a:p>
        </p:txBody>
      </p:sp>
      <p:sp>
        <p:nvSpPr>
          <p:cNvPr id="6" name="Footer Placeholder 5">
            <a:extLst>
              <a:ext uri="{FF2B5EF4-FFF2-40B4-BE49-F238E27FC236}">
                <a16:creationId xmlns:a16="http://schemas.microsoft.com/office/drawing/2014/main" id="{EC2A128F-FFC5-57A3-97A0-4D5FF9B489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936DF7-A4CA-4BAB-3978-CC850AD8BD66}"/>
              </a:ext>
            </a:extLst>
          </p:cNvPr>
          <p:cNvSpPr>
            <a:spLocks noGrp="1"/>
          </p:cNvSpPr>
          <p:nvPr>
            <p:ph type="sldNum" sz="quarter" idx="12"/>
          </p:nvPr>
        </p:nvSpPr>
        <p:spPr/>
        <p:txBody>
          <a:bodyPr/>
          <a:lstStyle/>
          <a:p>
            <a:fld id="{C4B87DDD-EE26-4198-9D2B-F1265CA810EB}" type="slidenum">
              <a:rPr lang="en-US" smtClean="0"/>
              <a:t>‹#›</a:t>
            </a:fld>
            <a:endParaRPr lang="en-US"/>
          </a:p>
        </p:txBody>
      </p:sp>
    </p:spTree>
    <p:extLst>
      <p:ext uri="{BB962C8B-B14F-4D97-AF65-F5344CB8AC3E}">
        <p14:creationId xmlns:p14="http://schemas.microsoft.com/office/powerpoint/2010/main" val="1376029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C5390-A5D8-961B-F04F-D081F51233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D75CF3-4F97-72A0-6F60-93301FF3D3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558969-50CF-1926-1011-230E98AACA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3EAE2F-56EA-D77B-E869-722487CEBFA6}"/>
              </a:ext>
            </a:extLst>
          </p:cNvPr>
          <p:cNvSpPr>
            <a:spLocks noGrp="1"/>
          </p:cNvSpPr>
          <p:nvPr>
            <p:ph type="dt" sz="half" idx="10"/>
          </p:nvPr>
        </p:nvSpPr>
        <p:spPr/>
        <p:txBody>
          <a:bodyPr/>
          <a:lstStyle/>
          <a:p>
            <a:fld id="{4782F719-07FA-48CE-A8B4-FF43BE861438}" type="datetimeFigureOut">
              <a:rPr lang="en-US" smtClean="0"/>
              <a:t>9/18/2026</a:t>
            </a:fld>
            <a:endParaRPr lang="en-US"/>
          </a:p>
        </p:txBody>
      </p:sp>
      <p:sp>
        <p:nvSpPr>
          <p:cNvPr id="6" name="Footer Placeholder 5">
            <a:extLst>
              <a:ext uri="{FF2B5EF4-FFF2-40B4-BE49-F238E27FC236}">
                <a16:creationId xmlns:a16="http://schemas.microsoft.com/office/drawing/2014/main" id="{BDA68896-077C-EAF6-B07F-E9CDF7F602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0AD7F-5534-E9F4-E077-14C5FCF937A6}"/>
              </a:ext>
            </a:extLst>
          </p:cNvPr>
          <p:cNvSpPr>
            <a:spLocks noGrp="1"/>
          </p:cNvSpPr>
          <p:nvPr>
            <p:ph type="sldNum" sz="quarter" idx="12"/>
          </p:nvPr>
        </p:nvSpPr>
        <p:spPr/>
        <p:txBody>
          <a:bodyPr/>
          <a:lstStyle/>
          <a:p>
            <a:fld id="{C4B87DDD-EE26-4198-9D2B-F1265CA810EB}" type="slidenum">
              <a:rPr lang="en-US" smtClean="0"/>
              <a:t>‹#›</a:t>
            </a:fld>
            <a:endParaRPr lang="en-US"/>
          </a:p>
        </p:txBody>
      </p:sp>
    </p:spTree>
    <p:extLst>
      <p:ext uri="{BB962C8B-B14F-4D97-AF65-F5344CB8AC3E}">
        <p14:creationId xmlns:p14="http://schemas.microsoft.com/office/powerpoint/2010/main" val="323052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25D8A-99FC-6FA8-FABC-DCBDE75E8A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FB952F-62C1-5CB3-9FB7-4207D44211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450876-1B10-007C-FAF8-0DDC0318CB08}"/>
              </a:ext>
            </a:extLst>
          </p:cNvPr>
          <p:cNvSpPr>
            <a:spLocks noGrp="1"/>
          </p:cNvSpPr>
          <p:nvPr>
            <p:ph type="dt" sz="half" idx="10"/>
          </p:nvPr>
        </p:nvSpPr>
        <p:spPr/>
        <p:txBody>
          <a:bodyPr/>
          <a:lstStyle/>
          <a:p>
            <a:fld id="{4782F719-07FA-48CE-A8B4-FF43BE861438}" type="datetimeFigureOut">
              <a:rPr lang="en-US" smtClean="0"/>
              <a:t>9/18/2026</a:t>
            </a:fld>
            <a:endParaRPr lang="en-US"/>
          </a:p>
        </p:txBody>
      </p:sp>
      <p:sp>
        <p:nvSpPr>
          <p:cNvPr id="5" name="Footer Placeholder 4">
            <a:extLst>
              <a:ext uri="{FF2B5EF4-FFF2-40B4-BE49-F238E27FC236}">
                <a16:creationId xmlns:a16="http://schemas.microsoft.com/office/drawing/2014/main" id="{03777A23-A88A-4D42-DB8B-B3357899C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289F8A-211B-DC79-F7FE-C59A9BFC10AA}"/>
              </a:ext>
            </a:extLst>
          </p:cNvPr>
          <p:cNvSpPr>
            <a:spLocks noGrp="1"/>
          </p:cNvSpPr>
          <p:nvPr>
            <p:ph type="sldNum" sz="quarter" idx="12"/>
          </p:nvPr>
        </p:nvSpPr>
        <p:spPr/>
        <p:txBody>
          <a:bodyPr/>
          <a:lstStyle/>
          <a:p>
            <a:fld id="{C4B87DDD-EE26-4198-9D2B-F1265CA810EB}" type="slidenum">
              <a:rPr lang="en-US" smtClean="0"/>
              <a:t>‹#›</a:t>
            </a:fld>
            <a:endParaRPr lang="en-US"/>
          </a:p>
        </p:txBody>
      </p:sp>
    </p:spTree>
    <p:extLst>
      <p:ext uri="{BB962C8B-B14F-4D97-AF65-F5344CB8AC3E}">
        <p14:creationId xmlns:p14="http://schemas.microsoft.com/office/powerpoint/2010/main" val="29201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B00CA0-C96B-D7C1-EE83-4530E247AA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BCC6D7-98D9-9147-7E10-79DA645C3F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9422DE-3E0A-B1C6-3A4F-D6A9FC5DF908}"/>
              </a:ext>
            </a:extLst>
          </p:cNvPr>
          <p:cNvSpPr>
            <a:spLocks noGrp="1"/>
          </p:cNvSpPr>
          <p:nvPr>
            <p:ph type="dt" sz="half" idx="10"/>
          </p:nvPr>
        </p:nvSpPr>
        <p:spPr/>
        <p:txBody>
          <a:bodyPr/>
          <a:lstStyle/>
          <a:p>
            <a:fld id="{4782F719-07FA-48CE-A8B4-FF43BE861438}" type="datetimeFigureOut">
              <a:rPr lang="en-US" smtClean="0"/>
              <a:t>9/18/2026</a:t>
            </a:fld>
            <a:endParaRPr lang="en-US"/>
          </a:p>
        </p:txBody>
      </p:sp>
      <p:sp>
        <p:nvSpPr>
          <p:cNvPr id="5" name="Footer Placeholder 4">
            <a:extLst>
              <a:ext uri="{FF2B5EF4-FFF2-40B4-BE49-F238E27FC236}">
                <a16:creationId xmlns:a16="http://schemas.microsoft.com/office/drawing/2014/main" id="{942258D3-8F58-4212-59AF-49D21EF7B0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626883-6129-E7F4-D423-3ED4E6F76F10}"/>
              </a:ext>
            </a:extLst>
          </p:cNvPr>
          <p:cNvSpPr>
            <a:spLocks noGrp="1"/>
          </p:cNvSpPr>
          <p:nvPr>
            <p:ph type="sldNum" sz="quarter" idx="12"/>
          </p:nvPr>
        </p:nvSpPr>
        <p:spPr/>
        <p:txBody>
          <a:bodyPr/>
          <a:lstStyle/>
          <a:p>
            <a:fld id="{C4B87DDD-EE26-4198-9D2B-F1265CA810EB}" type="slidenum">
              <a:rPr lang="en-US" smtClean="0"/>
              <a:t>‹#›</a:t>
            </a:fld>
            <a:endParaRPr lang="en-US"/>
          </a:p>
        </p:txBody>
      </p:sp>
    </p:spTree>
    <p:extLst>
      <p:ext uri="{BB962C8B-B14F-4D97-AF65-F5344CB8AC3E}">
        <p14:creationId xmlns:p14="http://schemas.microsoft.com/office/powerpoint/2010/main" val="3599809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CE05CC-2DC2-64DC-2865-D6E79B43C8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830B6C-C150-2F23-354B-1D14545B82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173E15-D3A5-E316-12EB-F6760F29F7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82F719-07FA-48CE-A8B4-FF43BE861438}" type="datetimeFigureOut">
              <a:rPr lang="en-US" smtClean="0"/>
              <a:t>9/18/2026</a:t>
            </a:fld>
            <a:endParaRPr lang="en-US"/>
          </a:p>
        </p:txBody>
      </p:sp>
      <p:sp>
        <p:nvSpPr>
          <p:cNvPr id="5" name="Footer Placeholder 4">
            <a:extLst>
              <a:ext uri="{FF2B5EF4-FFF2-40B4-BE49-F238E27FC236}">
                <a16:creationId xmlns:a16="http://schemas.microsoft.com/office/drawing/2014/main" id="{0FE635EF-64B4-D9D5-6E4A-D8E3EF9726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2E0096-D54D-416E-7323-779D768D9A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B87DDD-EE26-4198-9D2B-F1265CA810EB}" type="slidenum">
              <a:rPr lang="en-US" smtClean="0"/>
              <a:t>‹#›</a:t>
            </a:fld>
            <a:endParaRPr lang="en-US"/>
          </a:p>
        </p:txBody>
      </p:sp>
    </p:spTree>
    <p:extLst>
      <p:ext uri="{BB962C8B-B14F-4D97-AF65-F5344CB8AC3E}">
        <p14:creationId xmlns:p14="http://schemas.microsoft.com/office/powerpoint/2010/main" val="3650999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atlassian.com/incident-management/on-call/improving-on-call" TargetMode="External"/><Relationship Id="rId2" Type="http://schemas.openxmlformats.org/officeDocument/2006/relationships/hyperlink" Target="https://sre.google/sre-book/being-on-call/"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9BEBA-2F94-03D2-E351-3F56BC7DA6F9}"/>
              </a:ext>
            </a:extLst>
          </p:cNvPr>
          <p:cNvSpPr>
            <a:spLocks noGrp="1"/>
          </p:cNvSpPr>
          <p:nvPr>
            <p:ph type="ctrTitle"/>
          </p:nvPr>
        </p:nvSpPr>
        <p:spPr>
          <a:xfrm>
            <a:off x="1524000" y="1122363"/>
            <a:ext cx="9144000" cy="1172781"/>
          </a:xfrm>
        </p:spPr>
        <p:txBody>
          <a:bodyPr>
            <a:normAutofit/>
          </a:bodyPr>
          <a:lstStyle/>
          <a:p>
            <a:r>
              <a:rPr lang="en-US" sz="4000" dirty="0">
                <a:solidFill>
                  <a:schemeClr val="accent1"/>
                </a:solidFill>
              </a:rPr>
              <a:t>Pager Rotation Duties in DevOps</a:t>
            </a:r>
            <a:br>
              <a:rPr lang="en-US" sz="4000" dirty="0"/>
            </a:br>
            <a:r>
              <a:rPr lang="en-US" sz="2800" dirty="0"/>
              <a:t>Industry Best Practices</a:t>
            </a:r>
          </a:p>
        </p:txBody>
      </p:sp>
      <p:sp>
        <p:nvSpPr>
          <p:cNvPr id="3" name="Subtitle 2">
            <a:extLst>
              <a:ext uri="{FF2B5EF4-FFF2-40B4-BE49-F238E27FC236}">
                <a16:creationId xmlns:a16="http://schemas.microsoft.com/office/drawing/2014/main" id="{7468C589-D0AE-A802-216F-E12EAEB88ACD}"/>
              </a:ext>
            </a:extLst>
          </p:cNvPr>
          <p:cNvSpPr>
            <a:spLocks noGrp="1"/>
          </p:cNvSpPr>
          <p:nvPr>
            <p:ph type="subTitle" idx="1"/>
          </p:nvPr>
        </p:nvSpPr>
        <p:spPr>
          <a:xfrm>
            <a:off x="1524000" y="2962656"/>
            <a:ext cx="9144000" cy="2295144"/>
          </a:xfrm>
        </p:spPr>
        <p:txBody>
          <a:bodyPr>
            <a:normAutofit/>
          </a:bodyPr>
          <a:lstStyle/>
          <a:p>
            <a:endParaRPr lang="en-US" sz="1800" dirty="0"/>
          </a:p>
          <a:p>
            <a:r>
              <a:rPr lang="en-US" sz="1800" dirty="0">
                <a:solidFill>
                  <a:schemeClr val="tx1">
                    <a:lumMod val="75000"/>
                    <a:lumOff val="25000"/>
                  </a:schemeClr>
                </a:solidFill>
              </a:rPr>
              <a:t>Suresh shrestha</a:t>
            </a:r>
          </a:p>
          <a:p>
            <a:r>
              <a:rPr lang="en-US" sz="1800" dirty="0">
                <a:solidFill>
                  <a:schemeClr val="tx1">
                    <a:lumMod val="75000"/>
                    <a:lumOff val="25000"/>
                  </a:schemeClr>
                </a:solidFill>
              </a:rPr>
              <a:t>Module-7.2 Assignment</a:t>
            </a:r>
          </a:p>
          <a:p>
            <a:r>
              <a:rPr lang="en-US" sz="1800" dirty="0">
                <a:solidFill>
                  <a:schemeClr val="tx1">
                    <a:lumMod val="75000"/>
                    <a:lumOff val="25000"/>
                  </a:schemeClr>
                </a:solidFill>
              </a:rPr>
              <a:t>September 18, 2026</a:t>
            </a:r>
          </a:p>
        </p:txBody>
      </p:sp>
    </p:spTree>
    <p:extLst>
      <p:ext uri="{BB962C8B-B14F-4D97-AF65-F5344CB8AC3E}">
        <p14:creationId xmlns:p14="http://schemas.microsoft.com/office/powerpoint/2010/main" val="1517401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01DB57-6CF6-8D0C-D638-48DBCF4C9F2B}"/>
              </a:ext>
            </a:extLst>
          </p:cNvPr>
          <p:cNvSpPr txBox="1"/>
          <p:nvPr/>
        </p:nvSpPr>
        <p:spPr>
          <a:xfrm>
            <a:off x="484632" y="868680"/>
            <a:ext cx="10460736" cy="4124206"/>
          </a:xfrm>
          <a:prstGeom prst="rect">
            <a:avLst/>
          </a:prstGeom>
          <a:noFill/>
        </p:spPr>
        <p:txBody>
          <a:bodyPr wrap="square" rtlCol="0">
            <a:spAutoFit/>
          </a:bodyPr>
          <a:lstStyle/>
          <a:p>
            <a:r>
              <a:rPr lang="en-US" sz="2800" dirty="0">
                <a:solidFill>
                  <a:schemeClr val="accent1"/>
                </a:solidFill>
              </a:rPr>
              <a:t>What is Pager Rotation?</a:t>
            </a:r>
          </a:p>
          <a:p>
            <a:endParaRPr lang="en-US" dirty="0"/>
          </a:p>
          <a:p>
            <a:r>
              <a:rPr lang="en-US" dirty="0"/>
              <a:t>Pager rotation, also called an on-call rotation, is a schedule that determines who responds when a production system has a problem.</a:t>
            </a:r>
          </a:p>
          <a:p>
            <a:endParaRPr lang="en-US" dirty="0"/>
          </a:p>
          <a:p>
            <a:r>
              <a:rPr lang="en-US" dirty="0"/>
              <a:t>• Team members take turns being on call.</a:t>
            </a:r>
          </a:p>
          <a:p>
            <a:endParaRPr lang="en-US" dirty="0"/>
          </a:p>
          <a:p>
            <a:r>
              <a:rPr lang="en-US" dirty="0"/>
              <a:t>• The on-call person receives alerts when an incident occurs.</a:t>
            </a:r>
          </a:p>
          <a:p>
            <a:endParaRPr lang="en-US" dirty="0"/>
          </a:p>
          <a:p>
            <a:r>
              <a:rPr lang="en-US" dirty="0"/>
              <a:t>• Problems may happen during the day, at night, or on weekends.</a:t>
            </a:r>
          </a:p>
          <a:p>
            <a:endParaRPr lang="en-US" dirty="0"/>
          </a:p>
          <a:p>
            <a:r>
              <a:rPr lang="en-US" dirty="0"/>
              <a:t>• The goal is to respond quickly and keep the system available.</a:t>
            </a:r>
          </a:p>
          <a:p>
            <a:endParaRPr lang="en-US" dirty="0"/>
          </a:p>
          <a:p>
            <a:r>
              <a:rPr lang="en-US" dirty="0"/>
              <a:t>• A rotation distributes responsibility instead of depending on one person.</a:t>
            </a:r>
          </a:p>
        </p:txBody>
      </p:sp>
    </p:spTree>
    <p:extLst>
      <p:ext uri="{BB962C8B-B14F-4D97-AF65-F5344CB8AC3E}">
        <p14:creationId xmlns:p14="http://schemas.microsoft.com/office/powerpoint/2010/main" val="4054269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E411E9-45F0-D6ED-84BF-4C93EF3793C9}"/>
              </a:ext>
            </a:extLst>
          </p:cNvPr>
          <p:cNvSpPr txBox="1"/>
          <p:nvPr/>
        </p:nvSpPr>
        <p:spPr>
          <a:xfrm>
            <a:off x="896112" y="694944"/>
            <a:ext cx="10003536" cy="3847207"/>
          </a:xfrm>
          <a:prstGeom prst="rect">
            <a:avLst/>
          </a:prstGeom>
          <a:noFill/>
        </p:spPr>
        <p:txBody>
          <a:bodyPr wrap="square" rtlCol="0">
            <a:spAutoFit/>
          </a:bodyPr>
          <a:lstStyle/>
          <a:p>
            <a:r>
              <a:rPr lang="en-US" sz="2800" dirty="0">
                <a:solidFill>
                  <a:schemeClr val="accent1"/>
                </a:solidFill>
              </a:rPr>
              <a:t>Pager Rotation in the DevOps Model</a:t>
            </a:r>
          </a:p>
          <a:p>
            <a:endParaRPr lang="en-US" dirty="0"/>
          </a:p>
          <a:p>
            <a:r>
              <a:rPr lang="en-US" dirty="0"/>
              <a:t>• Production reliability should be a shared responsibility between Development and Operations.</a:t>
            </a:r>
          </a:p>
          <a:p>
            <a:endParaRPr lang="en-US" dirty="0"/>
          </a:p>
          <a:p>
            <a:r>
              <a:rPr lang="en-US" dirty="0"/>
              <a:t>• Developers should understand how their applications behave in production.</a:t>
            </a:r>
          </a:p>
          <a:p>
            <a:endParaRPr lang="en-US" dirty="0"/>
          </a:p>
          <a:p>
            <a:r>
              <a:rPr lang="en-US" dirty="0"/>
              <a:t>• Developers can participate in pager rotation with Operations.</a:t>
            </a:r>
          </a:p>
          <a:p>
            <a:endParaRPr lang="en-US" dirty="0"/>
          </a:p>
          <a:p>
            <a:r>
              <a:rPr lang="en-US" dirty="0"/>
              <a:t>• Direct exposure to incidents gives developers feedback about their code.</a:t>
            </a:r>
          </a:p>
          <a:p>
            <a:endParaRPr lang="en-US" dirty="0"/>
          </a:p>
          <a:p>
            <a:r>
              <a:rPr lang="en-US" dirty="0"/>
              <a:t>• Recurring production problems become visible to the people who can fix them.</a:t>
            </a:r>
          </a:p>
          <a:p>
            <a:endParaRPr lang="en-US" dirty="0"/>
          </a:p>
          <a:p>
            <a:r>
              <a:rPr lang="en-US" dirty="0"/>
              <a:t>• This creates more cooperation between Development and Operations.</a:t>
            </a:r>
          </a:p>
        </p:txBody>
      </p:sp>
    </p:spTree>
    <p:extLst>
      <p:ext uri="{BB962C8B-B14F-4D97-AF65-F5344CB8AC3E}">
        <p14:creationId xmlns:p14="http://schemas.microsoft.com/office/powerpoint/2010/main" val="1579723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F99EBA-436B-2427-9759-73BE01478556}"/>
              </a:ext>
            </a:extLst>
          </p:cNvPr>
          <p:cNvSpPr txBox="1"/>
          <p:nvPr/>
        </p:nvSpPr>
        <p:spPr>
          <a:xfrm>
            <a:off x="420624" y="557784"/>
            <a:ext cx="10378440" cy="3847207"/>
          </a:xfrm>
          <a:prstGeom prst="rect">
            <a:avLst/>
          </a:prstGeom>
          <a:noFill/>
        </p:spPr>
        <p:txBody>
          <a:bodyPr wrap="square" rtlCol="0">
            <a:spAutoFit/>
          </a:bodyPr>
          <a:lstStyle/>
          <a:p>
            <a:r>
              <a:rPr lang="en-US" sz="2800" dirty="0">
                <a:solidFill>
                  <a:schemeClr val="accent1"/>
                </a:solidFill>
              </a:rPr>
              <a:t>Main Pager Rotation Duties</a:t>
            </a:r>
          </a:p>
          <a:p>
            <a:endParaRPr lang="en-US" dirty="0"/>
          </a:p>
          <a:p>
            <a:r>
              <a:rPr lang="en-US" dirty="0"/>
              <a:t>• Acknowledge important alerts.</a:t>
            </a:r>
          </a:p>
          <a:p>
            <a:endParaRPr lang="en-US" dirty="0"/>
          </a:p>
          <a:p>
            <a:r>
              <a:rPr lang="en-US" dirty="0"/>
              <a:t>• Investigate what caused the problem.</a:t>
            </a:r>
          </a:p>
          <a:p>
            <a:endParaRPr lang="en-US" dirty="0"/>
          </a:p>
          <a:p>
            <a:r>
              <a:rPr lang="en-US" dirty="0"/>
              <a:t>• Restore the service as quickly and safely as possible.</a:t>
            </a:r>
          </a:p>
          <a:p>
            <a:endParaRPr lang="en-US" dirty="0"/>
          </a:p>
          <a:p>
            <a:r>
              <a:rPr lang="en-US" dirty="0"/>
              <a:t>• Escalate the incident when more help is needed.</a:t>
            </a:r>
          </a:p>
          <a:p>
            <a:endParaRPr lang="en-US" dirty="0"/>
          </a:p>
          <a:p>
            <a:r>
              <a:rPr lang="en-US" dirty="0"/>
              <a:t>• Communicate important information to the team.</a:t>
            </a:r>
          </a:p>
          <a:p>
            <a:endParaRPr lang="en-US" dirty="0"/>
          </a:p>
          <a:p>
            <a:r>
              <a:rPr lang="en-US" dirty="0"/>
              <a:t>• Document the incident and follow up afterward.</a:t>
            </a:r>
          </a:p>
        </p:txBody>
      </p:sp>
    </p:spTree>
    <p:extLst>
      <p:ext uri="{BB962C8B-B14F-4D97-AF65-F5344CB8AC3E}">
        <p14:creationId xmlns:p14="http://schemas.microsoft.com/office/powerpoint/2010/main" val="2178800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37BA13-F0FF-0286-2FE3-192EC9B5399B}"/>
              </a:ext>
            </a:extLst>
          </p:cNvPr>
          <p:cNvSpPr txBox="1"/>
          <p:nvPr/>
        </p:nvSpPr>
        <p:spPr>
          <a:xfrm>
            <a:off x="795528" y="658368"/>
            <a:ext cx="9893808" cy="4401205"/>
          </a:xfrm>
          <a:prstGeom prst="rect">
            <a:avLst/>
          </a:prstGeom>
          <a:noFill/>
        </p:spPr>
        <p:txBody>
          <a:bodyPr wrap="square" rtlCol="0">
            <a:spAutoFit/>
          </a:bodyPr>
          <a:lstStyle/>
          <a:p>
            <a:r>
              <a:rPr lang="en-US" sz="2800" dirty="0">
                <a:solidFill>
                  <a:schemeClr val="accent1"/>
                </a:solidFill>
              </a:rPr>
              <a:t>Creating a Good Rotation Schedule</a:t>
            </a:r>
          </a:p>
          <a:p>
            <a:endParaRPr lang="en-US" dirty="0"/>
          </a:p>
          <a:p>
            <a:r>
              <a:rPr lang="en-US" dirty="0"/>
              <a:t>• Create a predictable schedule.</a:t>
            </a:r>
          </a:p>
          <a:p>
            <a:endParaRPr lang="en-US" dirty="0"/>
          </a:p>
          <a:p>
            <a:r>
              <a:rPr lang="en-US" dirty="0"/>
              <a:t>• Rotate responsibilities fairly among qualified team members.</a:t>
            </a:r>
          </a:p>
          <a:p>
            <a:endParaRPr lang="en-US" dirty="0"/>
          </a:p>
          <a:p>
            <a:r>
              <a:rPr lang="en-US" dirty="0"/>
              <a:t>• Clearly identify who is currently on call.</a:t>
            </a:r>
          </a:p>
          <a:p>
            <a:endParaRPr lang="en-US" dirty="0"/>
          </a:p>
          <a:p>
            <a:r>
              <a:rPr lang="en-US" dirty="0"/>
              <a:t>• Have both primary and secondary responders.</a:t>
            </a:r>
          </a:p>
          <a:p>
            <a:endParaRPr lang="en-US" dirty="0"/>
          </a:p>
          <a:p>
            <a:r>
              <a:rPr lang="en-US" dirty="0"/>
              <a:t>• Plan for vacation, illness, and schedule changes.</a:t>
            </a:r>
          </a:p>
          <a:p>
            <a:endParaRPr lang="en-US" dirty="0"/>
          </a:p>
          <a:p>
            <a:r>
              <a:rPr lang="en-US" dirty="0"/>
              <a:t>• Provide clear handoffs between shifts.</a:t>
            </a:r>
          </a:p>
          <a:p>
            <a:endParaRPr lang="en-US" dirty="0"/>
          </a:p>
          <a:p>
            <a:r>
              <a:rPr lang="en-US" dirty="0"/>
              <a:t>• Use different time zones when possible for 24/7 coverage.</a:t>
            </a:r>
          </a:p>
        </p:txBody>
      </p:sp>
    </p:spTree>
    <p:extLst>
      <p:ext uri="{BB962C8B-B14F-4D97-AF65-F5344CB8AC3E}">
        <p14:creationId xmlns:p14="http://schemas.microsoft.com/office/powerpoint/2010/main" val="2461284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4C609C-9AF3-31A9-0505-53E61E1AD4DB}"/>
              </a:ext>
            </a:extLst>
          </p:cNvPr>
          <p:cNvSpPr txBox="1"/>
          <p:nvPr/>
        </p:nvSpPr>
        <p:spPr>
          <a:xfrm>
            <a:off x="585216" y="740664"/>
            <a:ext cx="11091672" cy="4401205"/>
          </a:xfrm>
          <a:prstGeom prst="rect">
            <a:avLst/>
          </a:prstGeom>
          <a:noFill/>
        </p:spPr>
        <p:txBody>
          <a:bodyPr wrap="square" rtlCol="0">
            <a:spAutoFit/>
          </a:bodyPr>
          <a:lstStyle/>
          <a:p>
            <a:r>
              <a:rPr lang="en-US" sz="2800" dirty="0">
                <a:solidFill>
                  <a:schemeClr val="accent1"/>
                </a:solidFill>
              </a:rPr>
              <a:t>Alerts and Escalation</a:t>
            </a:r>
          </a:p>
          <a:p>
            <a:endParaRPr lang="en-US" dirty="0"/>
          </a:p>
          <a:p>
            <a:r>
              <a:rPr lang="en-US" dirty="0"/>
              <a:t>• Alerts should be meaningful and actionable.</a:t>
            </a:r>
          </a:p>
          <a:p>
            <a:endParaRPr lang="en-US" dirty="0"/>
          </a:p>
          <a:p>
            <a:r>
              <a:rPr lang="en-US" dirty="0"/>
              <a:t>• Monitoring should identify important production problems.</a:t>
            </a:r>
          </a:p>
          <a:p>
            <a:endParaRPr lang="en-US" dirty="0"/>
          </a:p>
          <a:p>
            <a:r>
              <a:rPr lang="en-US" dirty="0"/>
              <a:t>• A primary responder receives the alert first.</a:t>
            </a:r>
          </a:p>
          <a:p>
            <a:endParaRPr lang="en-US" dirty="0"/>
          </a:p>
          <a:p>
            <a:r>
              <a:rPr lang="en-US" dirty="0"/>
              <a:t>• A secondary responder provides backup.</a:t>
            </a:r>
          </a:p>
          <a:p>
            <a:endParaRPr lang="en-US" dirty="0"/>
          </a:p>
          <a:p>
            <a:r>
              <a:rPr lang="en-US" dirty="0"/>
              <a:t>• An escalation process should identify who is contacted next.</a:t>
            </a:r>
          </a:p>
          <a:p>
            <a:endParaRPr lang="en-US" dirty="0"/>
          </a:p>
          <a:p>
            <a:r>
              <a:rPr lang="en-US" dirty="0"/>
              <a:t>• Runbooks can provide instructions for common incidents.</a:t>
            </a:r>
          </a:p>
          <a:p>
            <a:endParaRPr lang="en-US" dirty="0"/>
          </a:p>
          <a:p>
            <a:r>
              <a:rPr lang="en-US" dirty="0"/>
              <a:t>• Avoid unnecessary alerts to reduce alert fatigue.</a:t>
            </a:r>
          </a:p>
        </p:txBody>
      </p:sp>
    </p:spTree>
    <p:extLst>
      <p:ext uri="{BB962C8B-B14F-4D97-AF65-F5344CB8AC3E}">
        <p14:creationId xmlns:p14="http://schemas.microsoft.com/office/powerpoint/2010/main" val="1474259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6C3BD1-15AF-3EF9-2964-E39B32FCC93A}"/>
              </a:ext>
            </a:extLst>
          </p:cNvPr>
          <p:cNvSpPr txBox="1"/>
          <p:nvPr/>
        </p:nvSpPr>
        <p:spPr>
          <a:xfrm>
            <a:off x="786384" y="649224"/>
            <a:ext cx="9564624" cy="3847207"/>
          </a:xfrm>
          <a:prstGeom prst="rect">
            <a:avLst/>
          </a:prstGeom>
          <a:noFill/>
        </p:spPr>
        <p:txBody>
          <a:bodyPr wrap="square" rtlCol="0">
            <a:spAutoFit/>
          </a:bodyPr>
          <a:lstStyle/>
          <a:p>
            <a:r>
              <a:rPr lang="en-US" sz="2800" dirty="0">
                <a:solidFill>
                  <a:schemeClr val="accent1"/>
                </a:solidFill>
              </a:rPr>
              <a:t>Preventing Burnout and Alert Fatigue</a:t>
            </a:r>
          </a:p>
          <a:p>
            <a:endParaRPr lang="en-US" dirty="0"/>
          </a:p>
          <a:p>
            <a:r>
              <a:rPr lang="en-US" dirty="0"/>
              <a:t>• Share on-call duties across the team.</a:t>
            </a:r>
          </a:p>
          <a:p>
            <a:endParaRPr lang="en-US" dirty="0"/>
          </a:p>
          <a:p>
            <a:r>
              <a:rPr lang="en-US" dirty="0"/>
              <a:t>• Reduce repeated and unnecessary alerts.</a:t>
            </a:r>
          </a:p>
          <a:p>
            <a:endParaRPr lang="en-US" dirty="0"/>
          </a:p>
          <a:p>
            <a:r>
              <a:rPr lang="en-US" dirty="0"/>
              <a:t>• Give engineers enough recovery time.</a:t>
            </a:r>
          </a:p>
          <a:p>
            <a:endParaRPr lang="en-US" dirty="0"/>
          </a:p>
          <a:p>
            <a:r>
              <a:rPr lang="en-US" dirty="0"/>
              <a:t>• Monitor the number of incidents during each shift.</a:t>
            </a:r>
          </a:p>
          <a:p>
            <a:endParaRPr lang="en-US" dirty="0"/>
          </a:p>
          <a:p>
            <a:r>
              <a:rPr lang="en-US" dirty="0"/>
              <a:t>• Automate repetitive operational work.</a:t>
            </a:r>
          </a:p>
          <a:p>
            <a:endParaRPr lang="en-US" dirty="0"/>
          </a:p>
          <a:p>
            <a:r>
              <a:rPr lang="en-US" dirty="0"/>
              <a:t>• Review recurring problems and fix their causes.</a:t>
            </a:r>
          </a:p>
        </p:txBody>
      </p:sp>
    </p:spTree>
    <p:extLst>
      <p:ext uri="{BB962C8B-B14F-4D97-AF65-F5344CB8AC3E}">
        <p14:creationId xmlns:p14="http://schemas.microsoft.com/office/powerpoint/2010/main" val="2087276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EBFDC9-4809-88FC-B6AC-7F79F56E4369}"/>
              </a:ext>
            </a:extLst>
          </p:cNvPr>
          <p:cNvSpPr txBox="1"/>
          <p:nvPr/>
        </p:nvSpPr>
        <p:spPr>
          <a:xfrm>
            <a:off x="1014984" y="594360"/>
            <a:ext cx="10076688" cy="5324535"/>
          </a:xfrm>
          <a:prstGeom prst="rect">
            <a:avLst/>
          </a:prstGeom>
          <a:noFill/>
        </p:spPr>
        <p:txBody>
          <a:bodyPr wrap="square" rtlCol="0">
            <a:spAutoFit/>
          </a:bodyPr>
          <a:lstStyle/>
          <a:p>
            <a:r>
              <a:rPr lang="en-US" sz="2800" dirty="0">
                <a:solidFill>
                  <a:schemeClr val="accent1"/>
                </a:solidFill>
              </a:rPr>
              <a:t>Benefits and What I Learned</a:t>
            </a:r>
          </a:p>
          <a:p>
            <a:endParaRPr lang="en-US" dirty="0"/>
          </a:p>
          <a:p>
            <a:r>
              <a:rPr lang="en-US" dirty="0"/>
              <a:t>•Faster response to production problems.</a:t>
            </a:r>
          </a:p>
          <a:p>
            <a:endParaRPr lang="en-US" dirty="0"/>
          </a:p>
          <a:p>
            <a:r>
              <a:rPr lang="en-US" dirty="0"/>
              <a:t>• Better communication between Development and Operations.</a:t>
            </a:r>
          </a:p>
          <a:p>
            <a:endParaRPr lang="en-US" dirty="0"/>
          </a:p>
          <a:p>
            <a:r>
              <a:rPr lang="en-US" dirty="0"/>
              <a:t>• Developers learn how their code performs in production.</a:t>
            </a:r>
          </a:p>
          <a:p>
            <a:endParaRPr lang="en-US" dirty="0"/>
          </a:p>
          <a:p>
            <a:r>
              <a:rPr lang="en-US" dirty="0"/>
              <a:t>• Responsibility is shared across the team.</a:t>
            </a:r>
          </a:p>
          <a:p>
            <a:endParaRPr lang="en-US" dirty="0"/>
          </a:p>
          <a:p>
            <a:r>
              <a:rPr lang="en-US" dirty="0"/>
              <a:t>• Teams can use incidents as opportunities to improve the system.</a:t>
            </a:r>
          </a:p>
          <a:p>
            <a:endParaRPr lang="en-US" dirty="0"/>
          </a:p>
          <a:p>
            <a:endParaRPr lang="en-US" dirty="0"/>
          </a:p>
          <a:p>
            <a:r>
              <a:rPr lang="en-US" sz="2400" dirty="0">
                <a:solidFill>
                  <a:schemeClr val="accent1"/>
                </a:solidFill>
              </a:rPr>
              <a:t>What I Learned</a:t>
            </a:r>
          </a:p>
          <a:p>
            <a:r>
              <a:rPr lang="en-US" dirty="0"/>
              <a:t>After learning about pager rotation duties, I understand that pager rotation is not only about responding when something goes wrong. I learned that developers and Operations should share responsibility for production systems. In my point of view, this can help developers understand how their code actually works in production and encourage them to fix problems that keep happening.</a:t>
            </a:r>
          </a:p>
        </p:txBody>
      </p:sp>
    </p:spTree>
    <p:extLst>
      <p:ext uri="{BB962C8B-B14F-4D97-AF65-F5344CB8AC3E}">
        <p14:creationId xmlns:p14="http://schemas.microsoft.com/office/powerpoint/2010/main" val="632293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D3A28C-5CA9-ED49-9BD2-2818C5B7A29E}"/>
              </a:ext>
            </a:extLst>
          </p:cNvPr>
          <p:cNvSpPr txBox="1"/>
          <p:nvPr/>
        </p:nvSpPr>
        <p:spPr>
          <a:xfrm>
            <a:off x="749808" y="795528"/>
            <a:ext cx="10149840" cy="3293209"/>
          </a:xfrm>
          <a:prstGeom prst="rect">
            <a:avLst/>
          </a:prstGeom>
          <a:noFill/>
        </p:spPr>
        <p:txBody>
          <a:bodyPr wrap="square" rtlCol="0">
            <a:spAutoFit/>
          </a:bodyPr>
          <a:lstStyle/>
          <a:p>
            <a:r>
              <a:rPr lang="en-US" sz="2800" dirty="0">
                <a:solidFill>
                  <a:schemeClr val="accent1"/>
                </a:solidFill>
              </a:rPr>
              <a:t>References:</a:t>
            </a:r>
          </a:p>
          <a:p>
            <a:endParaRPr lang="en-US" dirty="0"/>
          </a:p>
          <a:p>
            <a:pPr marL="342900" indent="-342900">
              <a:buAutoNum type="arabicPeriod"/>
            </a:pPr>
            <a:r>
              <a:rPr lang="en-US" dirty="0"/>
              <a:t>Course Textbook. Chapter 16. “Dev Shares Pager Rotation Duties with Ops”</a:t>
            </a:r>
          </a:p>
          <a:p>
            <a:pPr marL="342900" indent="-342900">
              <a:buAutoNum type="arabicPeriod"/>
            </a:pPr>
            <a:endParaRPr lang="en-US" dirty="0"/>
          </a:p>
          <a:p>
            <a:pPr marL="342900" indent="-342900">
              <a:buAutoNum type="arabicPeriod"/>
            </a:pPr>
            <a:r>
              <a:rPr lang="en-US" dirty="0"/>
              <a:t>Google SRE- Being On-Call</a:t>
            </a:r>
          </a:p>
          <a:p>
            <a:r>
              <a:rPr lang="en-US" dirty="0">
                <a:hlinkClick r:id="rId2"/>
              </a:rPr>
              <a:t>https://sre.google/sre-book/being-on-call/</a:t>
            </a:r>
            <a:endParaRPr lang="en-US" dirty="0"/>
          </a:p>
          <a:p>
            <a:endParaRPr lang="en-US" dirty="0"/>
          </a:p>
          <a:p>
            <a:r>
              <a:rPr lang="en-US" dirty="0"/>
              <a:t>3. Atlassian – Improving On-Call</a:t>
            </a:r>
          </a:p>
          <a:p>
            <a:r>
              <a:rPr lang="en-US" dirty="0">
                <a:hlinkClick r:id="rId3"/>
              </a:rPr>
              <a:t>https://www.atlassian.com/incident-management/on-call/improving-on-call</a:t>
            </a:r>
            <a:endParaRPr lang="en-US" dirty="0"/>
          </a:p>
          <a:p>
            <a:pPr marL="342900" indent="-342900">
              <a:buAutoNum type="arabicPeriod"/>
            </a:pPr>
            <a:endParaRPr lang="en-US" dirty="0"/>
          </a:p>
          <a:p>
            <a:endParaRPr lang="en-US" dirty="0"/>
          </a:p>
        </p:txBody>
      </p:sp>
    </p:spTree>
    <p:extLst>
      <p:ext uri="{BB962C8B-B14F-4D97-AF65-F5344CB8AC3E}">
        <p14:creationId xmlns:p14="http://schemas.microsoft.com/office/powerpoint/2010/main" val="2475160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526</TotalTime>
  <Words>584</Words>
  <Application>Microsoft Office PowerPoint</Application>
  <PresentationFormat>Widescreen</PresentationFormat>
  <Paragraphs>111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Pager Rotation Duties in DevOps Industry Best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Suresh shrestha</dc:creator>
  <cp:lastModifiedBy>Suresh shrestha</cp:lastModifiedBy>
  <cp:revision>2</cp:revision>
  <dcterms:created xsi:type="dcterms:W3CDTF">2026-09-18T18:54:14Z</dcterms:created>
  <dcterms:modified xsi:type="dcterms:W3CDTF">2026-09-19T03:40:31Z</dcterms:modified>
</cp:coreProperties>
</file>